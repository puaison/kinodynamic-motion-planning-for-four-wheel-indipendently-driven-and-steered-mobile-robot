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</p:sldIdLst>
  <p:sldSz cy="6858000" cx="9144000"/>
  <p:notesSz cx="6858000" cy="9144000"/>
  <p:embeddedFontLst>
    <p:embeddedFont>
      <p:font typeface="Roboto"/>
      <p:regular r:id="rId104"/>
      <p:bold r:id="rId105"/>
      <p:italic r:id="rId106"/>
      <p:boldItalic r:id="rId10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orient="horz" pos="1728">
          <p15:clr>
            <a:srgbClr val="000000"/>
          </p15:clr>
        </p15:guide>
        <p15:guide id="3" orient="horz" pos="336">
          <p15:clr>
            <a:srgbClr val="000000"/>
          </p15:clr>
        </p15:guide>
        <p15:guide id="4" orient="horz" pos="552">
          <p15:clr>
            <a:srgbClr val="000000"/>
          </p15:clr>
        </p15:guide>
        <p15:guide id="5" orient="horz" pos="3984">
          <p15:clr>
            <a:srgbClr val="000000"/>
          </p15:clr>
        </p15:guide>
        <p15:guide id="6" pos="2880">
          <p15:clr>
            <a:srgbClr val="000000"/>
          </p15:clr>
        </p15:guide>
        <p15:guide id="7" pos="1484">
          <p15:clr>
            <a:srgbClr val="000000"/>
          </p15:clr>
        </p15:guide>
        <p15:guide id="8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1728" orient="horz"/>
        <p:guide pos="336" orient="horz"/>
        <p:guide pos="552" orient="horz"/>
        <p:guide pos="3984" orient="horz"/>
        <p:guide pos="2880"/>
        <p:guide pos="1484"/>
        <p:guide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font" Target="fonts/Roboto-boldItalic.fntdata"/><Relationship Id="rId106" Type="http://schemas.openxmlformats.org/officeDocument/2006/relationships/font" Target="fonts/Roboto-italic.fntdata"/><Relationship Id="rId105" Type="http://schemas.openxmlformats.org/officeDocument/2006/relationships/font" Target="fonts/Roboto-bold.fntdata"/><Relationship Id="rId104" Type="http://schemas.openxmlformats.org/officeDocument/2006/relationships/font" Target="fonts/Roboto-regular.fnt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4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dd7e68b140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53" name="Google Shape;53;g2dd7e68b14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dd7e68b140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2dd7e68b140_0_0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ded54e854a_0_1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63" name="Google Shape;63;g2ded54e854a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ded54e854a_0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2ded54e854a_0_14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ed54e854a_0_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74" name="Google Shape;74;g2ded54e854a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ded54e854a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2ded54e854a_0_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d7ac66016_1_2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g2dd7ac66016_1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3" name="Google Shape;83;g2dd7ac66016_1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L’analisi del modello cinematico è stata fatta sotto queste assunzioni per semplificare la rappresentazione del sistema: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deaba98b90_0_9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92" name="Google Shape;92;g2deaba98b90_0_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deaba98b90_0_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2deaba98b90_0_93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Il Robot preso in considerazione per lo sviluppo del progetto è il Neobotix MPO-700.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d7e68b140_0_7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12" name="Google Shape;112;g2dd7e68b140_0_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dd7e68b140_0_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L’analisi a livello cinematico non è molto diversa dall’analisi fatta da un robot con ruote che non hanno displacement dal joint. Infatti, il modello cinematicamente si riduce proprio a quello perchè la zero motion line di una ruota non cambia a prescindere dal displacement che ha rispetto al joint, ma dobbiamo essere noi accorti che la velocità che si trova qui &lt;&lt;Indica la zona&gt;&gt; non è la velocità che gli attuatori impongono sulla ruota, ma è la velocità che avrebbe la ruota se essa fosse sul joint. Pertanto quando poi si passa dal modello al vero robot con gli attuatori bisogna tenere conto di questo…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2dd7e68b140_0_71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ed54e854a_0_3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28" name="Google Shape;128;g2ded54e854a_0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ded54e854a_0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2ded54e854a_0_33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d7ac66016_1_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g2dd7ac66016_1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6" name="Google Shape;136;g2dd7ac66016_1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componente del vettore VELOCITA’ della ruota sul suo asse o zml DEVE ESSERE UGUALE A ZERO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d7ac66016_1_4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g2dd7ac66016_1_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7" name="Google Shape;147;g2dd7ac66016_1_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chemeClr val="dk1"/>
                </a:solidFill>
              </a:rPr>
              <a:t>Possiamo scrivere questi contraint in forma matriciale come segue raccogliendo tutte le derivate delle variabili che appartengono alla configuration space configuration space: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Quindi </a:t>
            </a:r>
            <a:r>
              <a:rPr lang="en-US" sz="1100">
                <a:solidFill>
                  <a:schemeClr val="dk1"/>
                </a:solidFill>
              </a:rPr>
              <a:t>istantaneamente</a:t>
            </a:r>
            <a:r>
              <a:rPr lang="en-US" sz="1100">
                <a:solidFill>
                  <a:schemeClr val="dk1"/>
                </a:solidFill>
              </a:rPr>
              <a:t> non tutte le direzioni la piattaforma può raggiungere, ma ha bisogno di un riorganizzazione preliminare delle angolazioni di ogni ruota.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dd7ac66016_1_5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g2dd7ac66016_1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9" name="Google Shape;159;g2dd7ac66016_1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geometrical path of the platform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deaba98b90_0_8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72" name="Google Shape;172;g2deaba98b90_0_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deaba98b90_0_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2deaba98b90_0_81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d7ac66016_1_6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g2dd7ac66016_1_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0" name="Google Shape;180;g2dd7ac66016_1_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dd7ac66016_1_7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g2dd7ac66016_1_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3" name="Google Shape;193;g2dd7ac66016_1_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L’unico di questi input che corrisponde all’input diretto degli attuatori è vphi1.</a:t>
            </a:r>
            <a:br>
              <a:rPr lang="en-US"/>
            </a:br>
            <a:r>
              <a:rPr lang="en-US"/>
              <a:t>è importante sottolineare che VS1 non è la driving velocity della ruota, ma è la velocità che avrebbe la ruota se fosse lì con displacement zero.</a:t>
            </a:r>
            <a:r>
              <a:rPr lang="en-US">
                <a:solidFill>
                  <a:schemeClr val="dk1"/>
                </a:solidFill>
              </a:rPr>
              <a:t>Ma avendo questo displacement, la ruota è collocata in un punto diverso del joint, pertanto per ottenere la velocità che la ruota ha nel frame della ruota dobbiamo applicare questa formula.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 w=0, l’icr è all’infinito e la piattaforma si muove lungo le saggittal axes delle ruote.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de43aed75f_0_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211" name="Google Shape;211;g2de43aed75f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de43aed75f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2de43aed75f_0_5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d7ac66016_1_7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g2dd7ac66016_1_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4" name="Google Shape;224;g2dd7ac66016_1_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dd7ac66016_1_9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g2dd7ac66016_1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8" name="Google Shape;238;g2dd7ac66016_1_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chemeClr val="dk1"/>
                </a:solidFill>
              </a:rPr>
              <a:t>Queste hanno delle singolarità strutturali che si verificano quando l’ICR finisce proprio su un joint. In quel caso la ruota associata a quel joint può avere qualsiasi orientamento per soddisfare il pure rolling constraint. e la coordinating function non ritorna un risultato definito.Fisicamente, il robot sta ruotando attorno ad un asse che passa proprio per il joint. Inoltre, vicino ai joint, i valori dello sterzamento delle ruote possono raggiungere valori molto alti.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Anche at rest ha problemi e abbiamo bisogno di prendere into account questo problema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eaba98b90_0_8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254" name="Google Shape;254;g2deaba98b90_0_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deaba98b90_0_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deaba98b90_0_87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dd7ac66016_1_10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g2dd7ac66016_1_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2" name="Google Shape;262;g2dd7ac66016_1_1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Ora gli ingressi sono questi, il che significa che controlliamo le accelerazioni del joint e dell’angular velocity, mentre il configuration space si estende aggiungendo la velocità del joint e la velocità angolare.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A differenza del modello precedente, che controllava direttamente le velocità e non prevedeva un'evoluzione libera dello stato (con il risultato che la piattaforma rimaneva immobile senza input diretti), questo nuovo modello considera il momento e l'inerzia della piattaforma come evoluzione libera dello stato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dd956904b9_1_1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277" name="Google Shape;277;g2dd956904b9_1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dd956904b9_1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2dd956904b9_1_10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deaba98b90_0_6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292" name="Google Shape;292;g2deaba98b90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deaba98b90_0_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deaba98b90_0_67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dd7e68b140_0_5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299" name="Google Shape;299;g2dd7e68b140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dd7e68b140_0_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2dd7e68b140_0_51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decea2db83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309" name="Google Shape;309;g2decea2db8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decea2db8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2decea2db83_0_0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ddd13d2805_1_4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321" name="Google Shape;321;g2ddd13d2805_1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ddd13d2805_1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2ddd13d2805_1_44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df33622119_0_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329" name="Google Shape;329;g2df33622119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df33622119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Adesso vediamo l’algoritmo che, dati due stati, ci permette di trovare la traiettoria ottima in termini di tempo e di sforzo del controllore. Come ipotesi principale abbiamo bisogno di un sistema lineare controllabile</a:t>
            </a:r>
            <a:endParaRPr/>
          </a:p>
        </p:txBody>
      </p:sp>
      <p:sp>
        <p:nvSpPr>
          <p:cNvPr id="331" name="Google Shape;331;g2df33622119_0_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dd7ac66016_1_13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g2dd7ac66016_1_1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9" name="Google Shape;339;g2dd7ac66016_1_1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che penalizza sia la durata della traiettoria che lo sforzo del controllo. R è una matrice positive-definite costante decisa a priori che pesa il costo degli input gli uni rispetto agli altri e rispetto alla durata della traiettoria.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ddd7345d83_0_1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359" name="Google Shape;359;g2ddd7345d83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ddd7345d83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il tempo finale tau con cui percorrere la traiettoria è deciso da noi, il controllore avrebbe questa forma. Ma adesso vogliamo trovare un algoritmo che sia in grado di trovare anche quale è il migliore tempo tau^* invece di deciderlo arbitrariamente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Adesso andiamo a vedere che funzioni sono G(tau) e q_bar(tau)</a:t>
            </a:r>
            <a:endParaRPr/>
          </a:p>
        </p:txBody>
      </p:sp>
      <p:sp>
        <p:nvSpPr>
          <p:cNvPr id="361" name="Google Shape;361;g2ddd7345d83_0_16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dd7ac66016_1_18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3" name="Google Shape;373;g2dd7ac66016_1_1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4" name="Google Shape;374;g2dd7ac66016_1_1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deaba98b90_0_9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388" name="Google Shape;388;g2deaba98b90_0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deaba98b90_0_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2deaba98b90_0_99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dd7ac66016_1_17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6" name="Google Shape;396;g2dd7ac66016_1_1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7" name="Google Shape;397;g2dd7ac66016_1_1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Ora per fare in modo di trovare anche il tempo ottimo tau_star che minimizza la funzione di costo, sostituiamo il controllore ottimo nella funzione di costo, calcoliamo l’integrale e troviamo questa closed form per la funzione di costo. Ora possiamo calcolare la sua derivata e trovare per quale valore di tau la funzione di costo è minima. Ma potremmo incappare in local minima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ddd7345d83_0_2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410" name="Google Shape;410;g2ddd7345d83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ddd7345d83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2ddd7345d83_0_28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ddd7345d83_1_2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430" name="Google Shape;430;g2ddd7345d83_1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ddd7345d83_1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2ddd7345d83_1_20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dd7ac66016_1_23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" name="Google Shape;444;g2dd7ac66016_1_2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5" name="Google Shape;445;g2dd7ac66016_1_2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dd7ac66016_1_23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g2dd7ac66016_1_2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8" name="Google Shape;458;g2dd7ac66016_1_2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Invece di usare un tau arbitrario, lo sostituiamo all’interno della closed form e abbiamo la optimal control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dd7ac66016_1_16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2" name="Google Shape;472;g2dd7ac66016_1_1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73" name="Google Shape;473;g2dd7ac66016_1_1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dd7ac66016_1_15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6" name="Google Shape;486;g2dd7ac66016_1_1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87" name="Google Shape;487;g2dd7ac66016_1_1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total traversal time is not arbitrary chosen by us, but we let the </a:t>
            </a:r>
            <a:r>
              <a:rPr lang="en-US"/>
              <a:t>algorithm</a:t>
            </a:r>
            <a:r>
              <a:rPr lang="en-US"/>
              <a:t> calculate what is the best time for minimizing function of cost, making it a fixed final state free final time solution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decea2db83_0_1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500" name="Google Shape;500;g2decea2db83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decea2db83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2decea2db83_0_13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ddd13d2805_1_5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509" name="Google Shape;509;g2ddd13d2805_1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ddd13d2805_1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2ddd13d2805_1_5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decea2db83_0_2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519" name="Google Shape;519;g2decea2db83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decea2db83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2decea2db83_0_21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decea2db83_0_3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529" name="Google Shape;529;g2decea2db83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decea2db83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2decea2db83_0_31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decea2db83_0_4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539" name="Google Shape;539;g2decea2db83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2decea2db83_0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g2decea2db83_0_40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ddd13d2805_1_5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548" name="Google Shape;548;g2ddd13d2805_1_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ddd13d2805_1_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2ddd13d2805_1_59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deaba98b90_0_7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556" name="Google Shape;556;g2deaba98b90_0_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deaba98b90_0_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2deaba98b90_0_75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deaba98b90_0_1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563" name="Google Shape;563;g2deaba98b90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deaba98b90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2deaba98b90_0_16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deaba98b90_0_3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579" name="Google Shape;579;g2deaba98b90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2deaba98b90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 discorso sul fatto che il sistema è valido negli intorni di qhat e u=0. Se i due punti da connettere sono numericamente distanti, allora il path lineare non corrisponde troppo a quello non lineare utilizzando i control input che escono da questo controllore</a:t>
            </a:r>
            <a:endParaRPr/>
          </a:p>
        </p:txBody>
      </p:sp>
      <p:sp>
        <p:nvSpPr>
          <p:cNvPr id="581" name="Google Shape;581;g2deaba98b90_0_31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deaba98b90_0_4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9" name="Google Shape;589;g2deaba98b90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90" name="Google Shape;590;g2deaba98b90_0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cosa che è già rispettata poichè scartiamo tutti i path diversi da questa situazione per quello che ci siamo detti sul modello per evitare che faccia pivoting sul joint 1.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ddf9ee98ab_0_79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604" name="Google Shape;604;g2ddf9ee98ab_0_7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ddf9ee98ab_0_7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2ddf9ee98ab_0_794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dd7ac66016_1_22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1" name="Google Shape;611;g2dd7ac66016_1_2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12" name="Google Shape;612;g2dd7ac66016_1_2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dd7f5998e8_0_3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1" name="Google Shape;621;g2dd7f5998e8_0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22" name="Google Shape;622;g2dd7f5998e8_0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dd7f5998e8_0_4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632" name="Google Shape;632;g2dd7f5998e8_0_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2dd7f5998e8_0_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2dd7f5998e8_0_46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de46179631_0_3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642" name="Google Shape;642;g2de46179631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2de46179631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2de46179631_0_31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ddf9ee98ab_0_49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655" name="Google Shape;655;g2ddf9ee98ab_0_4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ddf9ee98ab_0_4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2ddf9ee98ab_0_49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ddf9ee98ab_0_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662" name="Google Shape;662;g2ddf9ee98ab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2ddf9ee98ab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g2ddf9ee98ab_0_1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ddf9ee98ab_0_63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673" name="Google Shape;673;g2ddf9ee98ab_0_6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ddf9ee98ab_0_6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g2ddf9ee98ab_0_630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ddf9ee98ab_0_2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683" name="Google Shape;683;g2ddf9ee98ab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2ddf9ee98ab_0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g2ddf9ee98ab_0_2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ddf9ee98ab_0_3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691" name="Google Shape;691;g2ddf9ee98ab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ddf9ee98ab_0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Possiamo anche vedere che gli input non hanno cambi repentini essendo un path facile e vs1&gt;0</a:t>
            </a:r>
            <a:endParaRPr/>
          </a:p>
        </p:txBody>
      </p:sp>
      <p:sp>
        <p:nvSpPr>
          <p:cNvPr id="693" name="Google Shape;693;g2ddf9ee98ab_0_3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ddf9ee98ab_0_64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702" name="Google Shape;702;g2ddf9ee98ab_0_6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2ddf9ee98ab_0_6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g2ddf9ee98ab_0_647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ddf9ee98ab_0_5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713" name="Google Shape;713;g2ddf9ee98ab_0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ddf9ee98ab_0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g2ddf9ee98ab_0_5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dd7f5998e8_0_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723" name="Google Shape;723;g2dd7f5998e8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2dd7f5998e8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g2dd7f5998e8_0_5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ddf9ee98ab_0_6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731" name="Google Shape;731;g2ddf9ee98ab_0_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2ddf9ee98ab_0_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Accelerazione zero non è vero</a:t>
            </a:r>
            <a:endParaRPr/>
          </a:p>
        </p:txBody>
      </p:sp>
      <p:sp>
        <p:nvSpPr>
          <p:cNvPr id="733" name="Google Shape;733;g2ddf9ee98ab_0_6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ddf9ee98ab_0_47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742" name="Google Shape;742;g2ddf9ee98ab_0_4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2ddf9ee98ab_0_4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g2ddf9ee98ab_0_475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ddf9ee98ab_0_30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749" name="Google Shape;749;g2ddf9ee98ab_0_3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ddf9ee98ab_0_3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g2ddf9ee98ab_0_30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ddf9ee98ab_0_66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761" name="Google Shape;761;g2ddf9ee98ab_0_6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ddf9ee98ab_0_6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g2ddf9ee98ab_0_661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ddf9ee98ab_0_31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772" name="Google Shape;772;g2ddf9ee98ab_0_3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ddf9ee98ab_0_3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2ddf9ee98ab_0_310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ddf9ee98ab_0_31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789" name="Google Shape;789;g2ddf9ee98ab_0_3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ddf9ee98ab_0_3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Guardiamo omega come è più piccolo rispetto agli altri</a:t>
            </a:r>
            <a:endParaRPr/>
          </a:p>
        </p:txBody>
      </p:sp>
      <p:sp>
        <p:nvSpPr>
          <p:cNvPr id="791" name="Google Shape;791;g2ddf9ee98ab_0_317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ddf9ee98ab_0_49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800" name="Google Shape;800;g2ddf9ee98ab_0_4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2ddf9ee98ab_0_4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g2ddf9ee98ab_0_498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ddf9ee98ab_0_51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807" name="Google Shape;807;g2ddf9ee98ab_0_5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ddf9ee98ab_0_5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g2ddf9ee98ab_0_510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ddf9ee98ab_0_69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818" name="Google Shape;818;g2ddf9ee98ab_0_6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ddf9ee98ab_0_6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2ddf9ee98ab_0_698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ddf9ee98ab_0_59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830" name="Google Shape;830;g2ddf9ee98ab_0_5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ddf9ee98ab_0_5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g2ddf9ee98ab_0_596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ddf9ee98ab_0_52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841" name="Google Shape;841;g2ddf9ee98ab_0_5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ddf9ee98ab_0_5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Come il tempo anche è diminuito usando i forcing nodes</a:t>
            </a:r>
            <a:endParaRPr/>
          </a:p>
        </p:txBody>
      </p:sp>
      <p:sp>
        <p:nvSpPr>
          <p:cNvPr id="843" name="Google Shape;843;g2ddf9ee98ab_0_525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ddf9ee98ab_0_60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853" name="Google Shape;853;g2ddf9ee98ab_0_6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ddf9ee98ab_0_6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g2ddf9ee98ab_0_607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ddf9ee98ab_0_24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865" name="Google Shape;865;g2ddf9ee98ab_0_2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ddf9ee98ab_0_2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g2ddf9ee98ab_0_241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ddf9ee98ab_0_71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876" name="Google Shape;876;g2ddf9ee98ab_0_7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ddf9ee98ab_0_7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g2ddf9ee98ab_0_71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ddf9ee98ab_0_25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886" name="Google Shape;886;g2ddf9ee98ab_0_2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ddf9ee98ab_0_2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g2ddf9ee98ab_0_25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ddf9ee98ab_0_25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894" name="Google Shape;894;g2ddf9ee98ab_0_2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2ddf9ee98ab_0_2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Non andremo a commentare perchè non presentano niente di rilevante</a:t>
            </a:r>
            <a:endParaRPr/>
          </a:p>
        </p:txBody>
      </p:sp>
      <p:sp>
        <p:nvSpPr>
          <p:cNvPr id="896" name="Google Shape;896;g2ddf9ee98ab_0_259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ddf9ee98ab_0_50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905" name="Google Shape;905;g2ddf9ee98ab_0_5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ddf9ee98ab_0_5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g2ddf9ee98ab_0_504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ddf9ee98ab_0_72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912" name="Google Shape;912;g2ddf9ee98ab_0_7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ddf9ee98ab_0_7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g2ddf9ee98ab_0_725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ddf9ee98ab_0_27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923" name="Google Shape;923;g2ddf9ee98ab_0_2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ddf9ee98ab_0_2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g2ddf9ee98ab_0_271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ddf9ee98ab_0_28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932" name="Google Shape;932;g2ddf9ee98ab_0_2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2ddf9ee98ab_0_28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g2ddf9ee98ab_0_280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ddf9ee98ab_0_28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940" name="Google Shape;940;g2ddf9ee98ab_0_2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ddf9ee98ab_0_2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Accelerazione sempre poco sopra lo zero</a:t>
            </a:r>
            <a:endParaRPr/>
          </a:p>
        </p:txBody>
      </p:sp>
      <p:sp>
        <p:nvSpPr>
          <p:cNvPr id="942" name="Google Shape;942;g2ddf9ee98ab_0_287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ddf9ee98ab_0_54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951" name="Google Shape;951;g2ddf9ee98ab_0_5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ddf9ee98ab_0_5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g2ddf9ee98ab_0_540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ddf9ee98ab_0_33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958" name="Google Shape;958;g2ddf9ee98ab_0_3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2ddf9ee98ab_0_3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g2ddf9ee98ab_0_33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ddf9ee98ab_0_75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969" name="Google Shape;969;g2ddf9ee98ab_0_7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ddf9ee98ab_0_7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g2ddf9ee98ab_0_757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ddf9ee98ab_0_34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979" name="Google Shape;979;g2ddf9ee98ab_0_3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ddf9ee98ab_0_3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g2ddf9ee98ab_0_340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ddf9ee98ab_0_34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987" name="Google Shape;987;g2ddf9ee98ab_0_3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ddf9ee98ab_0_3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g2ddf9ee98ab_0_347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ddf9ee98ab_0_36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998" name="Google Shape;998;g2ddf9ee98ab_0_3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ddf9ee98ab_0_3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g2ddf9ee98ab_0_364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ddf9ee98ab_0_77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009" name="Google Shape;1009;g2ddf9ee98ab_0_7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ddf9ee98ab_0_7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g2ddf9ee98ab_0_770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ddf9ee98ab_0_37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019" name="Google Shape;1019;g2ddf9ee98ab_0_3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ddf9ee98ab_0_3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g2ddf9ee98ab_0_37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ddf9ee98ab_0_37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027" name="Google Shape;1027;g2ddf9ee98ab_0_3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ddf9ee98ab_0_3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g2ddf9ee98ab_0_379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ddf9ee98ab_0_55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038" name="Google Shape;1038;g2ddf9ee98ab_0_5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ddf9ee98ab_0_5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g2ddf9ee98ab_0_552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2de46179631_0_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049" name="Google Shape;1049;g2de46179631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2de46179631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g2de46179631_0_1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de46179631_0_1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059" name="Google Shape;1059;g2de46179631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de46179631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g2de46179631_0_10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2de46179631_0_1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067" name="Google Shape;1067;g2de46179631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de46179631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g2de46179631_0_17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ddf9ee98ab_0_45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078" name="Google Shape;1078;g2ddf9ee98ab_0_4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2ddf9ee98ab_0_4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g2ddf9ee98ab_0_454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dd7f5998e8_0_1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086" name="Google Shape;1086;g2dd7f5998e8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2dd7f5998e8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g2dd7f5998e8_0_17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ddf9ee98ab_0_62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098" name="Google Shape;1098;g2ddf9ee98ab_0_6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ddf9ee98ab_0_6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g2ddf9ee98ab_0_623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ddf9ee98ab_0_78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sp>
        <p:nvSpPr>
          <p:cNvPr id="1106" name="Google Shape;1106;g2ddf9ee98ab_0_7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2ddf9ee98ab_0_7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g2ddf9ee98ab_0_785:notes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on left, text on right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1116012" y="409575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1116012" y="1752600"/>
            <a:ext cx="75596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1"/>
          <p:cNvGrpSpPr/>
          <p:nvPr/>
        </p:nvGrpSpPr>
        <p:grpSpPr>
          <a:xfrm>
            <a:off x="0" y="6096000"/>
            <a:ext cx="9144000" cy="762000"/>
            <a:chOff x="0" y="3840"/>
            <a:chExt cx="5760" cy="480"/>
          </a:xfrm>
        </p:grpSpPr>
        <p:sp>
          <p:nvSpPr>
            <p:cNvPr id="12" name="Google Shape;12;p1"/>
            <p:cNvSpPr/>
            <p:nvPr/>
          </p:nvSpPr>
          <p:spPr>
            <a:xfrm>
              <a:off x="0" y="3984"/>
              <a:ext cx="5760" cy="336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768" y="3840"/>
              <a:ext cx="4992" cy="480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1"/>
          <p:cNvSpPr txBox="1"/>
          <p:nvPr>
            <p:ph type="title"/>
          </p:nvPr>
        </p:nvSpPr>
        <p:spPr>
          <a:xfrm>
            <a:off x="1116012" y="409575"/>
            <a:ext cx="7559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" type="body"/>
          </p:nvPr>
        </p:nvSpPr>
        <p:spPr>
          <a:xfrm>
            <a:off x="1116012" y="1752600"/>
            <a:ext cx="75596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Pagina 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jpg"/><Relationship Id="rId4" Type="http://schemas.openxmlformats.org/officeDocument/2006/relationships/image" Target="../media/image27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9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Relationship Id="rId7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Relationship Id="rId4" Type="http://schemas.openxmlformats.org/officeDocument/2006/relationships/image" Target="../media/image1.png"/><Relationship Id="rId5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5" Type="http://schemas.openxmlformats.org/officeDocument/2006/relationships/image" Target="../media/image60.png"/><Relationship Id="rId6" Type="http://schemas.openxmlformats.org/officeDocument/2006/relationships/image" Target="../media/image9.png"/><Relationship Id="rId7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16.png"/><Relationship Id="rId5" Type="http://schemas.openxmlformats.org/officeDocument/2006/relationships/image" Target="../media/image26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Relationship Id="rId4" Type="http://schemas.openxmlformats.org/officeDocument/2006/relationships/image" Target="../media/image4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10" Type="http://schemas.openxmlformats.org/officeDocument/2006/relationships/image" Target="../media/image38.png"/><Relationship Id="rId9" Type="http://schemas.openxmlformats.org/officeDocument/2006/relationships/image" Target="../media/image61.png"/><Relationship Id="rId5" Type="http://schemas.openxmlformats.org/officeDocument/2006/relationships/image" Target="../media/image32.png"/><Relationship Id="rId6" Type="http://schemas.openxmlformats.org/officeDocument/2006/relationships/image" Target="../media/image45.png"/><Relationship Id="rId7" Type="http://schemas.openxmlformats.org/officeDocument/2006/relationships/image" Target="../media/image47.png"/><Relationship Id="rId8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3.png"/><Relationship Id="rId4" Type="http://schemas.openxmlformats.org/officeDocument/2006/relationships/image" Target="../media/image42.png"/><Relationship Id="rId5" Type="http://schemas.openxmlformats.org/officeDocument/2006/relationships/image" Target="../media/image75.png"/><Relationship Id="rId6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5.png"/><Relationship Id="rId4" Type="http://schemas.openxmlformats.org/officeDocument/2006/relationships/image" Target="../media/image39.png"/><Relationship Id="rId5" Type="http://schemas.openxmlformats.org/officeDocument/2006/relationships/image" Target="../media/image5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Relationship Id="rId4" Type="http://schemas.openxmlformats.org/officeDocument/2006/relationships/image" Target="../media/image44.png"/><Relationship Id="rId5" Type="http://schemas.openxmlformats.org/officeDocument/2006/relationships/image" Target="../media/image42.png"/><Relationship Id="rId6" Type="http://schemas.openxmlformats.org/officeDocument/2006/relationships/image" Target="../media/image6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5" Type="http://schemas.openxmlformats.org/officeDocument/2006/relationships/image" Target="../media/image53.png"/><Relationship Id="rId6" Type="http://schemas.openxmlformats.org/officeDocument/2006/relationships/image" Target="../media/image75.png"/><Relationship Id="rId7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3.png"/><Relationship Id="rId4" Type="http://schemas.openxmlformats.org/officeDocument/2006/relationships/image" Target="../media/image38.png"/><Relationship Id="rId5" Type="http://schemas.openxmlformats.org/officeDocument/2006/relationships/image" Target="../media/image52.png"/><Relationship Id="rId6" Type="http://schemas.openxmlformats.org/officeDocument/2006/relationships/image" Target="../media/image5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1.png"/><Relationship Id="rId4" Type="http://schemas.openxmlformats.org/officeDocument/2006/relationships/image" Target="../media/image58.png"/><Relationship Id="rId5" Type="http://schemas.openxmlformats.org/officeDocument/2006/relationships/image" Target="../media/image38.png"/><Relationship Id="rId6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5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2.png"/><Relationship Id="rId4" Type="http://schemas.openxmlformats.org/officeDocument/2006/relationships/image" Target="../media/image74.png"/><Relationship Id="rId5" Type="http://schemas.openxmlformats.org/officeDocument/2006/relationships/image" Target="../media/image5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6.png"/><Relationship Id="rId4" Type="http://schemas.openxmlformats.org/officeDocument/2006/relationships/image" Target="../media/image6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8.png"/><Relationship Id="rId4" Type="http://schemas.openxmlformats.org/officeDocument/2006/relationships/image" Target="../media/image69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65.png"/><Relationship Id="rId8" Type="http://schemas.openxmlformats.org/officeDocument/2006/relationships/image" Target="../media/image6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9.png"/><Relationship Id="rId4" Type="http://schemas.openxmlformats.org/officeDocument/2006/relationships/image" Target="../media/image82.png"/><Relationship Id="rId5" Type="http://schemas.openxmlformats.org/officeDocument/2006/relationships/image" Target="../media/image6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6.png"/><Relationship Id="rId4" Type="http://schemas.openxmlformats.org/officeDocument/2006/relationships/image" Target="../media/image71.png"/><Relationship Id="rId5" Type="http://schemas.openxmlformats.org/officeDocument/2006/relationships/image" Target="../media/image7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1.png"/><Relationship Id="rId4" Type="http://schemas.openxmlformats.org/officeDocument/2006/relationships/image" Target="../media/image8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3.png"/><Relationship Id="rId4" Type="http://schemas.openxmlformats.org/officeDocument/2006/relationships/image" Target="../media/image78.png"/><Relationship Id="rId5" Type="http://schemas.openxmlformats.org/officeDocument/2006/relationships/image" Target="../media/image80.png"/><Relationship Id="rId6" Type="http://schemas.openxmlformats.org/officeDocument/2006/relationships/image" Target="../media/image9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6.png"/><Relationship Id="rId4" Type="http://schemas.openxmlformats.org/officeDocument/2006/relationships/image" Target="../media/image92.png"/><Relationship Id="rId5" Type="http://schemas.openxmlformats.org/officeDocument/2006/relationships/image" Target="../media/image99.png"/><Relationship Id="rId6" Type="http://schemas.openxmlformats.org/officeDocument/2006/relationships/image" Target="../media/image9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1.gif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5.png"/><Relationship Id="rId4" Type="http://schemas.openxmlformats.org/officeDocument/2006/relationships/image" Target="../media/image11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5.png"/><Relationship Id="rId4" Type="http://schemas.openxmlformats.org/officeDocument/2006/relationships/image" Target="../media/image96.png"/><Relationship Id="rId5" Type="http://schemas.openxmlformats.org/officeDocument/2006/relationships/image" Target="../media/image102.png"/><Relationship Id="rId6" Type="http://schemas.openxmlformats.org/officeDocument/2006/relationships/image" Target="../media/image10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03.png"/><Relationship Id="rId4" Type="http://schemas.openxmlformats.org/officeDocument/2006/relationships/image" Target="../media/image11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94.gif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20.png"/><Relationship Id="rId4" Type="http://schemas.openxmlformats.org/officeDocument/2006/relationships/image" Target="../media/image12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16.png"/><Relationship Id="rId4" Type="http://schemas.openxmlformats.org/officeDocument/2006/relationships/image" Target="../media/image127.png"/><Relationship Id="rId5" Type="http://schemas.openxmlformats.org/officeDocument/2006/relationships/image" Target="../media/image97.png"/><Relationship Id="rId6" Type="http://schemas.openxmlformats.org/officeDocument/2006/relationships/image" Target="../media/image11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04.png"/><Relationship Id="rId4" Type="http://schemas.openxmlformats.org/officeDocument/2006/relationships/image" Target="../media/image10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17.gif"/><Relationship Id="rId4" Type="http://schemas.openxmlformats.org/officeDocument/2006/relationships/image" Target="../media/image111.gif"/><Relationship Id="rId5" Type="http://schemas.openxmlformats.org/officeDocument/2006/relationships/image" Target="../media/image115.gif"/><Relationship Id="rId6" Type="http://schemas.openxmlformats.org/officeDocument/2006/relationships/image" Target="../media/image107.png"/><Relationship Id="rId7" Type="http://schemas.openxmlformats.org/officeDocument/2006/relationships/image" Target="../media/image109.png"/><Relationship Id="rId8" Type="http://schemas.openxmlformats.org/officeDocument/2006/relationships/image" Target="../media/image10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40.png"/><Relationship Id="rId4" Type="http://schemas.openxmlformats.org/officeDocument/2006/relationships/image" Target="../media/image14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24.png"/><Relationship Id="rId4" Type="http://schemas.openxmlformats.org/officeDocument/2006/relationships/image" Target="../media/image132.png"/><Relationship Id="rId5" Type="http://schemas.openxmlformats.org/officeDocument/2006/relationships/image" Target="../media/image121.png"/><Relationship Id="rId6" Type="http://schemas.openxmlformats.org/officeDocument/2006/relationships/image" Target="../media/image11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22.png"/><Relationship Id="rId4" Type="http://schemas.openxmlformats.org/officeDocument/2006/relationships/image" Target="../media/image12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19.gif"/><Relationship Id="rId4" Type="http://schemas.openxmlformats.org/officeDocument/2006/relationships/image" Target="../media/image118.gif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37.png"/><Relationship Id="rId4" Type="http://schemas.openxmlformats.org/officeDocument/2006/relationships/image" Target="../media/image14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51.png"/><Relationship Id="rId4" Type="http://schemas.openxmlformats.org/officeDocument/2006/relationships/image" Target="../media/image15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44.png"/><Relationship Id="rId4" Type="http://schemas.openxmlformats.org/officeDocument/2006/relationships/image" Target="../media/image139.png"/><Relationship Id="rId5" Type="http://schemas.openxmlformats.org/officeDocument/2006/relationships/image" Target="../media/image131.png"/><Relationship Id="rId6" Type="http://schemas.openxmlformats.org/officeDocument/2006/relationships/image" Target="../media/image12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30.png"/><Relationship Id="rId4" Type="http://schemas.openxmlformats.org/officeDocument/2006/relationships/image" Target="../media/image13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28.gif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58.png"/><Relationship Id="rId4" Type="http://schemas.openxmlformats.org/officeDocument/2006/relationships/image" Target="../media/image148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50.png"/><Relationship Id="rId4" Type="http://schemas.openxmlformats.org/officeDocument/2006/relationships/image" Target="../media/image153.png"/><Relationship Id="rId5" Type="http://schemas.openxmlformats.org/officeDocument/2006/relationships/image" Target="../media/image134.png"/><Relationship Id="rId6" Type="http://schemas.openxmlformats.org/officeDocument/2006/relationships/image" Target="../media/image129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4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36.gif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52.png"/><Relationship Id="rId4" Type="http://schemas.openxmlformats.org/officeDocument/2006/relationships/image" Target="../media/image166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56.png"/><Relationship Id="rId4" Type="http://schemas.openxmlformats.org/officeDocument/2006/relationships/image" Target="../media/image155.png"/><Relationship Id="rId5" Type="http://schemas.openxmlformats.org/officeDocument/2006/relationships/image" Target="../media/image135.png"/><Relationship Id="rId6" Type="http://schemas.openxmlformats.org/officeDocument/2006/relationships/image" Target="../media/image138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47.png"/><Relationship Id="rId4" Type="http://schemas.openxmlformats.org/officeDocument/2006/relationships/image" Target="../media/image162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46.gif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68.png"/><Relationship Id="rId4" Type="http://schemas.openxmlformats.org/officeDocument/2006/relationships/image" Target="../media/image171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67.png"/><Relationship Id="rId4" Type="http://schemas.openxmlformats.org/officeDocument/2006/relationships/image" Target="../media/image164.png"/><Relationship Id="rId5" Type="http://schemas.openxmlformats.org/officeDocument/2006/relationships/image" Target="../media/image143.png"/><Relationship Id="rId6" Type="http://schemas.openxmlformats.org/officeDocument/2006/relationships/image" Target="../media/image145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63.png"/><Relationship Id="rId4" Type="http://schemas.openxmlformats.org/officeDocument/2006/relationships/image" Target="../media/image160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59.gif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73.png"/><Relationship Id="rId4" Type="http://schemas.openxmlformats.org/officeDocument/2006/relationships/image" Target="../media/image175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74.png"/><Relationship Id="rId4" Type="http://schemas.openxmlformats.org/officeDocument/2006/relationships/image" Target="../media/image176.png"/><Relationship Id="rId5" Type="http://schemas.openxmlformats.org/officeDocument/2006/relationships/image" Target="../media/image157.png"/><Relationship Id="rId6" Type="http://schemas.openxmlformats.org/officeDocument/2006/relationships/image" Target="../media/image161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70.png"/><Relationship Id="rId4" Type="http://schemas.openxmlformats.org/officeDocument/2006/relationships/image" Target="../media/image172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69.gif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65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2243137" y="795337"/>
            <a:ext cx="61388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5"/>
          <p:cNvGrpSpPr/>
          <p:nvPr/>
        </p:nvGrpSpPr>
        <p:grpSpPr>
          <a:xfrm>
            <a:off x="-9525" y="0"/>
            <a:ext cx="9153525" cy="6858000"/>
            <a:chOff x="-6" y="0"/>
            <a:chExt cx="5766" cy="4320"/>
          </a:xfrm>
        </p:grpSpPr>
        <p:sp>
          <p:nvSpPr>
            <p:cNvPr id="45" name="Google Shape;45;p5"/>
            <p:cNvSpPr/>
            <p:nvPr/>
          </p:nvSpPr>
          <p:spPr>
            <a:xfrm>
              <a:off x="-6" y="0"/>
              <a:ext cx="5760" cy="2160"/>
            </a:xfrm>
            <a:prstGeom prst="rect">
              <a:avLst/>
            </a:prstGeom>
            <a:solidFill>
              <a:srgbClr val="C0CE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" name="Google Shape;46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728"/>
              <a:ext cx="5760" cy="25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5"/>
          <p:cNvSpPr txBox="1"/>
          <p:nvPr>
            <p:ph type="ctrTitle"/>
          </p:nvPr>
        </p:nvSpPr>
        <p:spPr>
          <a:xfrm>
            <a:off x="1523988" y="1256600"/>
            <a:ext cx="60960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Kinodynamic motion planning for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steerable WMRs</a:t>
            </a:r>
            <a:endParaRPr sz="2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48" name="Google Shape;48;p5"/>
          <p:cNvSpPr txBox="1"/>
          <p:nvPr/>
        </p:nvSpPr>
        <p:spPr>
          <a:xfrm>
            <a:off x="1614775" y="292350"/>
            <a:ext cx="6138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D0D0D"/>
                </a:solidFill>
              </a:rPr>
              <a:t>Autonomous and Mobile Robots</a:t>
            </a:r>
            <a:endParaRPr b="1" sz="3000">
              <a:solidFill>
                <a:srgbClr val="0D0D0D"/>
              </a:solidFill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836050" y="4718575"/>
            <a:ext cx="24999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Professor: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	Giuseppe Oriolo</a:t>
            </a:r>
            <a:br>
              <a:rPr lang="en-US" sz="2000">
                <a:solidFill>
                  <a:schemeClr val="lt1"/>
                </a:solidFill>
              </a:rPr>
            </a:br>
            <a:br>
              <a:rPr lang="en-US" sz="2000">
                <a:solidFill>
                  <a:schemeClr val="lt1"/>
                </a:solidFill>
              </a:rPr>
            </a:br>
            <a:r>
              <a:rPr lang="en-US" sz="2000">
                <a:solidFill>
                  <a:schemeClr val="lt1"/>
                </a:solidFill>
              </a:rPr>
              <a:t>Supervisor</a:t>
            </a:r>
            <a:r>
              <a:rPr lang="en-US" sz="2000">
                <a:solidFill>
                  <a:schemeClr val="lt1"/>
                </a:solidFill>
              </a:rPr>
              <a:t>: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	Michele Cipriani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4452675" y="4718575"/>
            <a:ext cx="44847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Students</a:t>
            </a:r>
            <a:r>
              <a:rPr lang="en-US" sz="2000">
                <a:solidFill>
                  <a:schemeClr val="lt1"/>
                </a:solidFill>
              </a:rPr>
              <a:t>: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	Dario Basile 1845115</a:t>
            </a:r>
            <a:br>
              <a:rPr lang="en-US" sz="2000">
                <a:solidFill>
                  <a:schemeClr val="lt1"/>
                </a:solidFill>
              </a:rPr>
            </a:br>
            <a:r>
              <a:rPr lang="en-US" sz="2000">
                <a:solidFill>
                  <a:schemeClr val="lt1"/>
                </a:solidFill>
              </a:rPr>
              <a:t>	Lorenzo Ciarpaglini 1813738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	Luca Del Signore 2096442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/>
        </p:nvSpPr>
        <p:spPr>
          <a:xfrm>
            <a:off x="1655750" y="251375"/>
            <a:ext cx="564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Introduction</a:t>
            </a:r>
            <a:endParaRPr b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</p:txBody>
      </p:sp>
      <p:sp>
        <p:nvSpPr>
          <p:cNvPr id="58" name="Google Shape;58;p6"/>
          <p:cNvSpPr txBox="1"/>
          <p:nvPr/>
        </p:nvSpPr>
        <p:spPr>
          <a:xfrm>
            <a:off x="815100" y="2528475"/>
            <a:ext cx="75138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Path planning in complex and dynamic environments requires advanced algorithms that ensure safety and precision.</a:t>
            </a:r>
            <a:endParaRPr sz="2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9" name="Google Shape;59;p6"/>
          <p:cNvSpPr txBox="1"/>
          <p:nvPr/>
        </p:nvSpPr>
        <p:spPr>
          <a:xfrm>
            <a:off x="815100" y="4015575"/>
            <a:ext cx="7513800" cy="17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KRRT* (Kinodynamic Rapidly-exploring Random Tree Star) offers significant advantages over traditional methods in terms of computational efficiency and path quality</a:t>
            </a:r>
            <a:endParaRPr sz="2200"/>
          </a:p>
        </p:txBody>
      </p:sp>
      <p:sp>
        <p:nvSpPr>
          <p:cNvPr id="60" name="Google Shape;60;p6"/>
          <p:cNvSpPr txBox="1"/>
          <p:nvPr/>
        </p:nvSpPr>
        <p:spPr>
          <a:xfrm>
            <a:off x="815100" y="977575"/>
            <a:ext cx="75138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recent years mobile robots with steering wheels are widely used in autonomous navigation, logistics, and service robotics applications.</a:t>
            </a:r>
            <a:endParaRPr sz="2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/>
        </p:nvSpPr>
        <p:spPr>
          <a:xfrm>
            <a:off x="671700" y="76200"/>
            <a:ext cx="7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Differences with other mobile platforms</a:t>
            </a:r>
            <a:endParaRPr b="1"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</p:txBody>
      </p:sp>
      <p:sp>
        <p:nvSpPr>
          <p:cNvPr id="68" name="Google Shape;68;p7"/>
          <p:cNvSpPr txBox="1"/>
          <p:nvPr/>
        </p:nvSpPr>
        <p:spPr>
          <a:xfrm>
            <a:off x="890725" y="1234975"/>
            <a:ext cx="7281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9" name="Google Shape;69;p7"/>
          <p:cNvSpPr txBox="1"/>
          <p:nvPr/>
        </p:nvSpPr>
        <p:spPr>
          <a:xfrm>
            <a:off x="815100" y="734100"/>
            <a:ext cx="7513800" cy="20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C</a:t>
            </a:r>
            <a:r>
              <a:rPr b="1" lang="en-US" sz="2000"/>
              <a:t>ar-like Robots:</a:t>
            </a:r>
            <a:br>
              <a:rPr b="1" lang="en-US" sz="2000"/>
            </a:b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Low production cost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High load capacity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Lack of </a:t>
            </a:r>
            <a:r>
              <a:rPr lang="en-US" sz="2000"/>
              <a:t>maneuverability</a:t>
            </a:r>
            <a:endParaRPr sz="2000"/>
          </a:p>
        </p:txBody>
      </p:sp>
      <p:sp>
        <p:nvSpPr>
          <p:cNvPr id="70" name="Google Shape;70;p7"/>
          <p:cNvSpPr txBox="1"/>
          <p:nvPr/>
        </p:nvSpPr>
        <p:spPr>
          <a:xfrm>
            <a:off x="815100" y="4315500"/>
            <a:ext cx="7513800" cy="20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SWM</a:t>
            </a:r>
            <a:r>
              <a:rPr b="1" lang="en-US" sz="2000"/>
              <a:t> Robots:</a:t>
            </a:r>
            <a:br>
              <a:rPr b="1" lang="en-US" sz="2000"/>
            </a:b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Low </a:t>
            </a:r>
            <a:r>
              <a:rPr lang="en-US" sz="2000"/>
              <a:t>production cost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High load capacity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Higher maneuverability</a:t>
            </a:r>
            <a:endParaRPr sz="2000"/>
          </a:p>
        </p:txBody>
      </p:sp>
      <p:sp>
        <p:nvSpPr>
          <p:cNvPr id="71" name="Google Shape;71;p7"/>
          <p:cNvSpPr txBox="1"/>
          <p:nvPr/>
        </p:nvSpPr>
        <p:spPr>
          <a:xfrm>
            <a:off x="815100" y="2424450"/>
            <a:ext cx="7513800" cy="20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Omnidirectional </a:t>
            </a:r>
            <a:r>
              <a:rPr b="1" lang="en-US" sz="2000"/>
              <a:t>Robots with unconventional wheels:</a:t>
            </a:r>
            <a:br>
              <a:rPr b="1" lang="en-US" sz="2000"/>
            </a:b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High production cost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Low load capacity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High maneuverability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/>
        </p:nvSpPr>
        <p:spPr>
          <a:xfrm>
            <a:off x="1655750" y="251375"/>
            <a:ext cx="564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Contents</a:t>
            </a:r>
            <a:endParaRPr b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</p:txBody>
      </p:sp>
      <p:sp>
        <p:nvSpPr>
          <p:cNvPr id="79" name="Google Shape;79;p8"/>
          <p:cNvSpPr txBox="1"/>
          <p:nvPr/>
        </p:nvSpPr>
        <p:spPr>
          <a:xfrm>
            <a:off x="1272750" y="1644850"/>
            <a:ext cx="6598500" cy="40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Kinematic Model for an off-centered SWMR</a:t>
            </a:r>
            <a:br>
              <a:rPr lang="en-US" sz="2400"/>
            </a:b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Kinodynamic RRT* motion planning</a:t>
            </a:r>
            <a:br>
              <a:rPr lang="en-US" sz="2400"/>
            </a:b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Simulations and Results on different maps</a:t>
            </a:r>
            <a:br>
              <a:rPr lang="en-US" sz="2400"/>
            </a:b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Analysis on efficiency and drawbacks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86" name="Google Shape;86;p9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87" name="Google Shape;87;p9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8" name="Google Shape;88;p9"/>
          <p:cNvSpPr txBox="1"/>
          <p:nvPr/>
        </p:nvSpPr>
        <p:spPr>
          <a:xfrm>
            <a:off x="947325" y="1712650"/>
            <a:ext cx="6960000" cy="30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</a:rPr>
              <a:t>Localization Precision in Simulation</a:t>
            </a:r>
            <a:endParaRPr sz="2400">
              <a:solidFill>
                <a:srgbClr val="595959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</a:rPr>
              <a:t>Absence of Friction or External Forces</a:t>
            </a:r>
            <a:endParaRPr sz="2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</a:rPr>
              <a:t>Pure Rolling Constraints</a:t>
            </a:r>
            <a:endParaRPr sz="2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</a:rPr>
              <a:t>Rigid Body Assumption</a:t>
            </a:r>
            <a:endParaRPr sz="2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</a:rPr>
              <a:t>A Completely Known Environment</a:t>
            </a:r>
            <a:endParaRPr sz="24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89" name="Google Shape;89;p9"/>
          <p:cNvSpPr txBox="1"/>
          <p:nvPr/>
        </p:nvSpPr>
        <p:spPr>
          <a:xfrm>
            <a:off x="1655750" y="251375"/>
            <a:ext cx="564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Assumptions</a:t>
            </a:r>
            <a:endParaRPr b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 txBox="1"/>
          <p:nvPr/>
        </p:nvSpPr>
        <p:spPr>
          <a:xfrm>
            <a:off x="1785150" y="2479500"/>
            <a:ext cx="5573700" cy="18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Neobotix MPO-700</a:t>
            </a:r>
            <a:endParaRPr b="1"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103" name="Google Shape;103;p11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104" name="Google Shape;104;p11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488" y="717725"/>
            <a:ext cx="2996675" cy="246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1525" y="3554413"/>
            <a:ext cx="17526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1487" y="2967587"/>
            <a:ext cx="2241775" cy="2851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1"/>
          <p:cNvSpPr txBox="1"/>
          <p:nvPr/>
        </p:nvSpPr>
        <p:spPr>
          <a:xfrm>
            <a:off x="366150" y="310925"/>
            <a:ext cx="30222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Neobotix MPO-700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09" name="Google Shape;109;p11"/>
          <p:cNvSpPr txBox="1"/>
          <p:nvPr/>
        </p:nvSpPr>
        <p:spPr>
          <a:xfrm>
            <a:off x="366150" y="1157800"/>
            <a:ext cx="3977100" cy="19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4 steerable </a:t>
            </a:r>
            <a:r>
              <a:rPr lang="en-US" sz="2400"/>
              <a:t>independent actuated</a:t>
            </a:r>
            <a:r>
              <a:rPr lang="en-US" sz="2400"/>
              <a:t> wheels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Omnidirectionality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550" y="855225"/>
            <a:ext cx="5004556" cy="514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 txBox="1"/>
          <p:nvPr/>
        </p:nvSpPr>
        <p:spPr>
          <a:xfrm>
            <a:off x="392550" y="135650"/>
            <a:ext cx="5412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Schematic model of MPO-700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18" name="Google Shape;118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2349" y="855213"/>
            <a:ext cx="31908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2350" y="1904863"/>
            <a:ext cx="18573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7088" y="3235038"/>
            <a:ext cx="3228975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2350" y="5010163"/>
            <a:ext cx="360997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 txBox="1"/>
          <p:nvPr/>
        </p:nvSpPr>
        <p:spPr>
          <a:xfrm>
            <a:off x="5524175" y="2766450"/>
            <a:ext cx="34356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Position of </a:t>
            </a:r>
            <a:r>
              <a:rPr b="1" lang="en-US" sz="2400">
                <a:solidFill>
                  <a:schemeClr val="dk1"/>
                </a:solidFill>
              </a:rPr>
              <a:t>Si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5698525" y="4524525"/>
            <a:ext cx="3228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Position of </a:t>
            </a:r>
            <a:r>
              <a:rPr b="1" lang="en-US" sz="2400">
                <a:solidFill>
                  <a:schemeClr val="dk1"/>
                </a:solidFill>
              </a:rPr>
              <a:t>Wi</a:t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124" name="Google Shape;124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30427" y="2798288"/>
            <a:ext cx="412947" cy="48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30425" y="4612372"/>
            <a:ext cx="489581" cy="3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/>
        </p:nvSpPr>
        <p:spPr>
          <a:xfrm>
            <a:off x="1785150" y="2479500"/>
            <a:ext cx="5573700" cy="18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Model</a:t>
            </a:r>
            <a:endParaRPr b="1"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139" name="Google Shape;139;p14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656750" y="514350"/>
            <a:ext cx="34581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Pfaffian constraints</a:t>
            </a:r>
            <a:endParaRPr sz="2400"/>
          </a:p>
        </p:txBody>
      </p:sp>
      <p:sp>
        <p:nvSpPr>
          <p:cNvPr id="142" name="Google Shape;142;p14"/>
          <p:cNvSpPr txBox="1"/>
          <p:nvPr/>
        </p:nvSpPr>
        <p:spPr>
          <a:xfrm>
            <a:off x="656750" y="1516900"/>
            <a:ext cx="7410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Each wheels is subject to the pure rolling constraint</a:t>
            </a:r>
            <a:endParaRPr sz="2400"/>
          </a:p>
        </p:txBody>
      </p:sp>
      <p:pic>
        <p:nvPicPr>
          <p:cNvPr id="143" name="Google Shape;1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125" y="2824163"/>
            <a:ext cx="3333750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150" name="Google Shape;150;p15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151" name="Google Shape;151;p15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52" name="Google Shape;15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413" y="1422938"/>
            <a:ext cx="6057149" cy="2233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2225" y="4549363"/>
            <a:ext cx="3819525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743925" y="383575"/>
            <a:ext cx="382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Implicit model</a:t>
            </a:r>
            <a:endParaRPr b="1" sz="2400"/>
          </a:p>
        </p:txBody>
      </p:sp>
      <p:sp>
        <p:nvSpPr>
          <p:cNvPr id="155" name="Google Shape;155;p15"/>
          <p:cNvSpPr txBox="1"/>
          <p:nvPr/>
        </p:nvSpPr>
        <p:spPr>
          <a:xfrm>
            <a:off x="4034388" y="3783525"/>
            <a:ext cx="107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where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162" name="Google Shape;162;p16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163" name="Google Shape;163;p16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64" name="Google Shape;1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025" y="4491029"/>
            <a:ext cx="657225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809250" y="533400"/>
            <a:ext cx="4262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G</a:t>
            </a:r>
            <a:r>
              <a:rPr b="1" lang="en-US" sz="2400"/>
              <a:t>eometric constraints</a:t>
            </a:r>
            <a:endParaRPr b="1" sz="2400"/>
          </a:p>
        </p:txBody>
      </p:sp>
      <p:sp>
        <p:nvSpPr>
          <p:cNvPr id="166" name="Google Shape;166;p16"/>
          <p:cNvSpPr txBox="1"/>
          <p:nvPr/>
        </p:nvSpPr>
        <p:spPr>
          <a:xfrm>
            <a:off x="809250" y="1255375"/>
            <a:ext cx="7729800" cy="21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highlight>
                  <a:srgbClr val="FFFFFF"/>
                </a:highlight>
              </a:rPr>
              <a:t>All axles of the wheels must intersect at a single point (ICR) or the platform will not move.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ICR can be seen as a geometric constraint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-US" sz="2400"/>
              <a:t>ICR must depend on the geometrical path </a:t>
            </a:r>
            <a:r>
              <a:rPr lang="en-US" sz="2400">
                <a:solidFill>
                  <a:schemeClr val="dk1"/>
                </a:solidFill>
              </a:rPr>
              <a:t>\xi(t)</a:t>
            </a:r>
            <a:r>
              <a:rPr lang="en-US" sz="2400"/>
              <a:t> </a:t>
            </a:r>
            <a:endParaRPr sz="2400"/>
          </a:p>
        </p:txBody>
      </p:sp>
      <p:sp>
        <p:nvSpPr>
          <p:cNvPr id="167" name="Google Shape;167;p16"/>
          <p:cNvSpPr txBox="1"/>
          <p:nvPr/>
        </p:nvSpPr>
        <p:spPr>
          <a:xfrm>
            <a:off x="809250" y="3513625"/>
            <a:ext cx="76491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Resolving i-th Pfaffian constraint for </a:t>
            </a:r>
            <a:r>
              <a:rPr lang="en-US" sz="2400">
                <a:solidFill>
                  <a:schemeClr val="dk1"/>
                </a:solidFill>
              </a:rPr>
              <a:t>ph</a:t>
            </a:r>
            <a:r>
              <a:rPr lang="en-US" sz="2400"/>
              <a:t> we obtain this geometric constraint:</a:t>
            </a:r>
            <a:endParaRPr sz="2400"/>
          </a:p>
        </p:txBody>
      </p:sp>
      <p:pic>
        <p:nvPicPr>
          <p:cNvPr id="168" name="Google Shape;16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8650" y="2667000"/>
            <a:ext cx="710672" cy="41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3950" y="3552850"/>
            <a:ext cx="40277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/>
        </p:nvSpPr>
        <p:spPr>
          <a:xfrm>
            <a:off x="1785150" y="2479500"/>
            <a:ext cx="5573700" cy="18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A general kinematic model</a:t>
            </a:r>
            <a:endParaRPr b="1" sz="3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183" name="Google Shape;183;p18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85" name="Google Shape;1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275" y="1704987"/>
            <a:ext cx="587692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4625" y="5136075"/>
            <a:ext cx="3714750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685775" y="1037400"/>
            <a:ext cx="64077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implicit kinematic model can be reduced</a:t>
            </a:r>
            <a:endParaRPr sz="2400"/>
          </a:p>
        </p:txBody>
      </p:sp>
      <p:sp>
        <p:nvSpPr>
          <p:cNvPr id="188" name="Google Shape;188;p18"/>
          <p:cNvSpPr txBox="1"/>
          <p:nvPr/>
        </p:nvSpPr>
        <p:spPr>
          <a:xfrm>
            <a:off x="685775" y="4349025"/>
            <a:ext cx="64077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To be used with these geometric constraints:</a:t>
            </a:r>
            <a:endParaRPr sz="2400"/>
          </a:p>
        </p:txBody>
      </p:sp>
      <p:pic>
        <p:nvPicPr>
          <p:cNvPr id="189" name="Google Shape;18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1618" y="3490825"/>
            <a:ext cx="2690107" cy="6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196" name="Google Shape;196;p19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197" name="Google Shape;197;p19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55025" y="310925"/>
            <a:ext cx="515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Explicit general kinematic model</a:t>
            </a:r>
            <a:endParaRPr b="1" sz="2400"/>
          </a:p>
        </p:txBody>
      </p:sp>
      <p:sp>
        <p:nvSpPr>
          <p:cNvPr id="199" name="Google Shape;199;p19"/>
          <p:cNvSpPr txBox="1"/>
          <p:nvPr/>
        </p:nvSpPr>
        <p:spPr>
          <a:xfrm>
            <a:off x="555025" y="2624375"/>
            <a:ext cx="77733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bo </a:t>
            </a:r>
            <a:r>
              <a:rPr lang="en-US" sz="2400"/>
              <a:t>velocity of the point S1 in the wheel frame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chemeClr val="dk2"/>
                </a:solidFill>
              </a:rPr>
              <a:t>w</a:t>
            </a:r>
            <a:r>
              <a:rPr lang="en-US" sz="2400"/>
              <a:t> angular velocity of the platform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vp  </a:t>
            </a:r>
            <a:r>
              <a:rPr lang="en-US" sz="2400"/>
              <a:t>steering velocity of the wheel</a:t>
            </a:r>
            <a:endParaRPr sz="2400"/>
          </a:p>
        </p:txBody>
      </p:sp>
      <p:pic>
        <p:nvPicPr>
          <p:cNvPr id="200" name="Google Shape;2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725" y="957600"/>
            <a:ext cx="6998451" cy="140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4213" y="5014088"/>
            <a:ext cx="26955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555025" y="4469300"/>
            <a:ext cx="79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driving velocity of  W1 can be evaluated as:</a:t>
            </a:r>
            <a:endParaRPr sz="2400"/>
          </a:p>
        </p:txBody>
      </p:sp>
      <p:pic>
        <p:nvPicPr>
          <p:cNvPr id="203" name="Google Shape;20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2852" y="4560574"/>
            <a:ext cx="478150" cy="3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2374" y="2734236"/>
            <a:ext cx="478150" cy="313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2599" y="2688052"/>
            <a:ext cx="365944" cy="3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2375" y="3214103"/>
            <a:ext cx="365950" cy="31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72375" y="3699563"/>
            <a:ext cx="584014" cy="39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6477" y="3712274"/>
            <a:ext cx="478150" cy="36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/>
        </p:nvSpPr>
        <p:spPr>
          <a:xfrm>
            <a:off x="6009600" y="245385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ICR on the </a:t>
            </a:r>
            <a:r>
              <a:rPr lang="en-US" sz="2400">
                <a:solidFill>
                  <a:schemeClr val="dk1"/>
                </a:solidFill>
              </a:rPr>
              <a:t>W1</a:t>
            </a:r>
            <a:r>
              <a:rPr lang="en-US" sz="2400"/>
              <a:t> axes with distance </a:t>
            </a:r>
            <a:r>
              <a:rPr lang="en-US" sz="2400">
                <a:solidFill>
                  <a:schemeClr val="dk1"/>
                </a:solidFill>
              </a:rPr>
              <a:t>Vs1/w</a:t>
            </a:r>
            <a:r>
              <a:rPr lang="en-US" sz="2400"/>
              <a:t> from the joint </a:t>
            </a:r>
            <a:r>
              <a:rPr lang="en-US" sz="2400">
                <a:solidFill>
                  <a:schemeClr val="dk1"/>
                </a:solidFill>
              </a:rPr>
              <a:t>S1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704799" cy="589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6902" y="2560236"/>
            <a:ext cx="478150" cy="3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3999" y="3322240"/>
            <a:ext cx="365944" cy="3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5849" y="3322250"/>
            <a:ext cx="4286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4000" y="2849950"/>
            <a:ext cx="957800" cy="46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227" name="Google Shape;227;p21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228" name="Google Shape;228;p21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29" name="Google Shape;2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6825" y="1091050"/>
            <a:ext cx="5670349" cy="178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/>
          <p:nvPr/>
        </p:nvSpPr>
        <p:spPr>
          <a:xfrm>
            <a:off x="4397700" y="2471413"/>
            <a:ext cx="348600" cy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2975" y="3178404"/>
            <a:ext cx="657225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/>
          <p:nvPr/>
        </p:nvSpPr>
        <p:spPr>
          <a:xfrm>
            <a:off x="4136100" y="4409375"/>
            <a:ext cx="871800" cy="4572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3888" y="4866587"/>
            <a:ext cx="721042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365100" y="171050"/>
            <a:ext cx="42069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Coordinating functions (1)</a:t>
            </a:r>
            <a:endParaRPr b="1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241" name="Google Shape;241;p22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43" name="Google Shape;2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788" y="932812"/>
            <a:ext cx="721042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62450" y="1951975"/>
            <a:ext cx="8158200" cy="22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This functions return two solutions. We need to pick that closer to the previous </a:t>
            </a:r>
            <a:r>
              <a:rPr lang="en-US" sz="2400">
                <a:solidFill>
                  <a:schemeClr val="dk1"/>
                </a:solidFill>
              </a:rPr>
              <a:t>ph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-US" sz="2400"/>
              <a:t>Structural </a:t>
            </a:r>
            <a:r>
              <a:rPr lang="en-US" sz="2400"/>
              <a:t>singularities when ICR is located on i-th joint, and the </a:t>
            </a:r>
            <a:r>
              <a:rPr lang="en-US" sz="2400">
                <a:solidFill>
                  <a:schemeClr val="dk1"/>
                </a:solidFill>
              </a:rPr>
              <a:t>ph</a:t>
            </a:r>
            <a:r>
              <a:rPr lang="en-US" sz="2400"/>
              <a:t> can have arbitrary orientation.</a:t>
            </a:r>
            <a:r>
              <a:rPr lang="en-US" sz="2400"/>
              <a:t> </a:t>
            </a:r>
            <a:endParaRPr sz="2400"/>
          </a:p>
        </p:txBody>
      </p:sp>
      <p:sp>
        <p:nvSpPr>
          <p:cNvPr id="245" name="Google Shape;245;p22"/>
          <p:cNvSpPr txBox="1"/>
          <p:nvPr/>
        </p:nvSpPr>
        <p:spPr>
          <a:xfrm>
            <a:off x="562450" y="3851600"/>
            <a:ext cx="83859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Imposing velocity of </a:t>
            </a:r>
            <a:r>
              <a:rPr lang="en-US" sz="2400">
                <a:solidFill>
                  <a:schemeClr val="dk1"/>
                </a:solidFill>
              </a:rPr>
              <a:t>Si</a:t>
            </a:r>
            <a:r>
              <a:rPr lang="en-US" sz="2400"/>
              <a:t> in the wheel frame </a:t>
            </a:r>
            <a:r>
              <a:rPr lang="en-US" sz="2400">
                <a:solidFill>
                  <a:schemeClr val="dk1"/>
                </a:solidFill>
              </a:rPr>
              <a:t>Wi</a:t>
            </a:r>
            <a:r>
              <a:rPr lang="en-US" sz="2400"/>
              <a:t> different from zero during the path in order to prevent the joints to be ICR</a:t>
            </a:r>
            <a:endParaRPr sz="2400"/>
          </a:p>
        </p:txBody>
      </p:sp>
      <p:sp>
        <p:nvSpPr>
          <p:cNvPr id="246" name="Google Shape;246;p22"/>
          <p:cNvSpPr txBox="1"/>
          <p:nvPr/>
        </p:nvSpPr>
        <p:spPr>
          <a:xfrm>
            <a:off x="562450" y="384825"/>
            <a:ext cx="40095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Coordinating function (2)</a:t>
            </a:r>
            <a:endParaRPr b="1" sz="2400"/>
          </a:p>
        </p:txBody>
      </p:sp>
      <p:pic>
        <p:nvPicPr>
          <p:cNvPr id="247" name="Google Shape;24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400" y="2343400"/>
            <a:ext cx="4027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4463" y="3200400"/>
            <a:ext cx="4027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6798" y="4800055"/>
            <a:ext cx="4009500" cy="1101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3651" y="3969075"/>
            <a:ext cx="309633" cy="3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05600" y="3969075"/>
            <a:ext cx="450369" cy="36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/>
          <p:nvPr/>
        </p:nvSpPr>
        <p:spPr>
          <a:xfrm>
            <a:off x="1785150" y="2479500"/>
            <a:ext cx="5573700" cy="18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Dynamic extension of general kinematic model</a:t>
            </a:r>
            <a:endParaRPr b="1"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265" name="Google Shape;265;p24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266" name="Google Shape;266;p24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278975" y="194700"/>
            <a:ext cx="80931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  <p:pic>
        <p:nvPicPr>
          <p:cNvPr id="268" name="Google Shape;2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63" y="1895400"/>
            <a:ext cx="1246828" cy="82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8438" y="1312200"/>
            <a:ext cx="5738349" cy="2625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2813" y="2526375"/>
            <a:ext cx="24765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0613" y="3295038"/>
            <a:ext cx="300037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/>
          <p:nvPr/>
        </p:nvSpPr>
        <p:spPr>
          <a:xfrm>
            <a:off x="1895863" y="2202575"/>
            <a:ext cx="367800" cy="21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235925" y="4387300"/>
            <a:ext cx="8731800" cy="1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Previous model controlled directly velocity of </a:t>
            </a:r>
            <a:r>
              <a:rPr lang="en-US" sz="2400">
                <a:solidFill>
                  <a:schemeClr val="dk1"/>
                </a:solidFill>
              </a:rPr>
              <a:t>S1</a:t>
            </a:r>
            <a:r>
              <a:rPr lang="en-US" sz="2400"/>
              <a:t> and angular velocity of the platform, with no free evolution of the state.</a:t>
            </a:r>
            <a:endParaRPr sz="2400"/>
          </a:p>
        </p:txBody>
      </p:sp>
      <p:pic>
        <p:nvPicPr>
          <p:cNvPr id="274" name="Google Shape;274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07837" y="4463977"/>
            <a:ext cx="365944" cy="36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888" y="4866600"/>
            <a:ext cx="721042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398000" y="286150"/>
            <a:ext cx="3075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Why this </a:t>
            </a:r>
            <a:r>
              <a:rPr b="1" lang="en-US" sz="2400"/>
              <a:t>extension</a:t>
            </a:r>
            <a:endParaRPr b="1" sz="2400"/>
          </a:p>
        </p:txBody>
      </p:sp>
      <p:sp>
        <p:nvSpPr>
          <p:cNvPr id="283" name="Google Shape;283;p25"/>
          <p:cNvSpPr txBox="1"/>
          <p:nvPr/>
        </p:nvSpPr>
        <p:spPr>
          <a:xfrm>
            <a:off x="398000" y="1048225"/>
            <a:ext cx="8191800" cy="24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It’s easier to calculate the derivative of coordinating functions (necessary for driving velocity of each wheel) having in the model directly derivative of </a:t>
            </a:r>
            <a:r>
              <a:rPr lang="en-US" sz="2400">
                <a:solidFill>
                  <a:schemeClr val="dk1"/>
                </a:solidFill>
              </a:rPr>
              <a:t>vs1 </a:t>
            </a:r>
            <a:r>
              <a:rPr lang="en-US" sz="2400">
                <a:solidFill>
                  <a:srgbClr val="0D0D0D"/>
                </a:solidFill>
              </a:rPr>
              <a:t>and</a:t>
            </a:r>
            <a:r>
              <a:rPr lang="en-US" sz="2400">
                <a:solidFill>
                  <a:schemeClr val="dk1"/>
                </a:solidFill>
              </a:rPr>
              <a:t> w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1000"/>
              </a:spcAft>
              <a:buSzPts val="2400"/>
              <a:buAutoNum type="arabicPeriod"/>
            </a:pPr>
            <a:r>
              <a:rPr lang="en-US" sz="2400"/>
              <a:t>As we will see later, the linearization of this dynamic model is controllable, that is a necessary condition for KRRT*.</a:t>
            </a:r>
            <a:endParaRPr sz="2400"/>
          </a:p>
        </p:txBody>
      </p:sp>
      <p:pic>
        <p:nvPicPr>
          <p:cNvPr id="284" name="Google Shape;28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4213" y="3997638"/>
            <a:ext cx="26955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4005313" y="4428300"/>
            <a:ext cx="1133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where</a:t>
            </a:r>
            <a:endParaRPr sz="2400"/>
          </a:p>
        </p:txBody>
      </p:sp>
      <p:sp>
        <p:nvSpPr>
          <p:cNvPr id="286" name="Google Shape;286;p25"/>
          <p:cNvSpPr txBox="1"/>
          <p:nvPr/>
        </p:nvSpPr>
        <p:spPr>
          <a:xfrm>
            <a:off x="2571900" y="3536425"/>
            <a:ext cx="42198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Driving velocity of wheel </a:t>
            </a:r>
            <a:r>
              <a:rPr lang="en-US" sz="2400">
                <a:solidFill>
                  <a:schemeClr val="dk1"/>
                </a:solidFill>
              </a:rPr>
              <a:t>Wi</a:t>
            </a:r>
            <a:r>
              <a:rPr lang="en-US" sz="2400"/>
              <a:t>: :</a:t>
            </a:r>
            <a:endParaRPr sz="2400"/>
          </a:p>
        </p:txBody>
      </p:sp>
      <p:pic>
        <p:nvPicPr>
          <p:cNvPr id="287" name="Google Shape;28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6000" y="3578722"/>
            <a:ext cx="489581" cy="3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4124" y="1938336"/>
            <a:ext cx="478150" cy="313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91175" y="1935528"/>
            <a:ext cx="365950" cy="319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>
            <p:ph type="ctrTitle"/>
          </p:nvPr>
        </p:nvSpPr>
        <p:spPr>
          <a:xfrm>
            <a:off x="1524000" y="2452650"/>
            <a:ext cx="60960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KRRT*</a:t>
            </a:r>
            <a:endParaRPr b="1" i="0" sz="4000" u="none">
              <a:solidFill>
                <a:srgbClr val="8224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/>
        </p:nvSpPr>
        <p:spPr>
          <a:xfrm>
            <a:off x="947325" y="441700"/>
            <a:ext cx="27897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Motion Planning</a:t>
            </a:r>
            <a:endParaRPr b="1" sz="2400"/>
          </a:p>
        </p:txBody>
      </p:sp>
      <p:sp>
        <p:nvSpPr>
          <p:cNvPr id="304" name="Google Shape;304;p27"/>
          <p:cNvSpPr txBox="1"/>
          <p:nvPr/>
        </p:nvSpPr>
        <p:spPr>
          <a:xfrm>
            <a:off x="947325" y="1317375"/>
            <a:ext cx="6692400" cy="43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Find a </a:t>
            </a:r>
            <a:r>
              <a:rPr lang="en-US" sz="2400"/>
              <a:t>collision-free motion that takes t</a:t>
            </a:r>
            <a:r>
              <a:rPr lang="en-US" sz="2400"/>
              <a:t>he</a:t>
            </a:r>
            <a:r>
              <a:rPr lang="en-US" sz="2400"/>
              <a:t> robot from an initial to a final configuration</a:t>
            </a:r>
            <a:endParaRPr sz="2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KRRT*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Probabilistic method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Robot with linear dynamics and with non-holonomic constraints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Asymptotic</a:t>
            </a:r>
            <a:r>
              <a:rPr lang="en-US" sz="2400"/>
              <a:t> optimality</a:t>
            </a:r>
            <a:endParaRPr sz="2400"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05" name="Google Shape;305;p27"/>
          <p:cNvSpPr txBox="1"/>
          <p:nvPr/>
        </p:nvSpPr>
        <p:spPr>
          <a:xfrm>
            <a:off x="2466975" y="655875"/>
            <a:ext cx="670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06" name="Google Shape;306;p27"/>
          <p:cNvSpPr txBox="1"/>
          <p:nvPr/>
        </p:nvSpPr>
        <p:spPr>
          <a:xfrm>
            <a:off x="540200" y="2876550"/>
            <a:ext cx="1567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/>
        </p:nvSpPr>
        <p:spPr>
          <a:xfrm>
            <a:off x="747225" y="431350"/>
            <a:ext cx="64671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RRT (Rapidly-exploring Random Tree)</a:t>
            </a:r>
            <a:endParaRPr b="1" sz="2000"/>
          </a:p>
        </p:txBody>
      </p:sp>
      <p:sp>
        <p:nvSpPr>
          <p:cNvPr id="314" name="Google Shape;314;p28"/>
          <p:cNvSpPr txBox="1"/>
          <p:nvPr/>
        </p:nvSpPr>
        <p:spPr>
          <a:xfrm>
            <a:off x="747225" y="876301"/>
            <a:ext cx="6066900" cy="21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Probabilistic method</a:t>
            </a:r>
            <a:endParaRPr sz="16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900"/>
              <a:t>utilize random sampling to construct a roadmap of the configuration space as a Tree T structure where the root is the initial configuration</a:t>
            </a:r>
            <a:endParaRPr sz="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Probabilistically complete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Single query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Exploration biased towards larger Voronoi regions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15" name="Google Shape;315;p28"/>
          <p:cNvSpPr txBox="1"/>
          <p:nvPr/>
        </p:nvSpPr>
        <p:spPr>
          <a:xfrm>
            <a:off x="4868475" y="3801979"/>
            <a:ext cx="3849900" cy="25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RRT extension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Use of a cost function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Update the costs in the tree at each iteration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Asymptotically optimal</a:t>
            </a:r>
            <a:endParaRPr sz="2400"/>
          </a:p>
        </p:txBody>
      </p:sp>
      <p:sp>
        <p:nvSpPr>
          <p:cNvPr id="316" name="Google Shape;316;p28"/>
          <p:cNvSpPr txBox="1"/>
          <p:nvPr/>
        </p:nvSpPr>
        <p:spPr>
          <a:xfrm>
            <a:off x="4933275" y="3317250"/>
            <a:ext cx="37851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RRT*</a:t>
            </a:r>
            <a:endParaRPr b="1" sz="2000"/>
          </a:p>
        </p:txBody>
      </p:sp>
      <p:pic>
        <p:nvPicPr>
          <p:cNvPr id="317" name="Google Shape;317;p28"/>
          <p:cNvPicPr preferRelativeResize="0"/>
          <p:nvPr/>
        </p:nvPicPr>
        <p:blipFill rotWithShape="1">
          <a:blip r:embed="rId3">
            <a:alphaModFix/>
          </a:blip>
          <a:srcRect b="9641" l="0" r="0" t="0"/>
          <a:stretch/>
        </p:blipFill>
        <p:spPr>
          <a:xfrm>
            <a:off x="6268475" y="1700500"/>
            <a:ext cx="2693375" cy="128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075" y="3801975"/>
            <a:ext cx="4463351" cy="17625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/>
          <p:nvPr/>
        </p:nvSpPr>
        <p:spPr>
          <a:xfrm>
            <a:off x="947325" y="441700"/>
            <a:ext cx="64671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K</a:t>
            </a:r>
            <a:r>
              <a:rPr b="1" lang="en-US" sz="2400"/>
              <a:t>RRT* </a:t>
            </a:r>
            <a:endParaRPr b="1" sz="2400"/>
          </a:p>
        </p:txBody>
      </p:sp>
      <p:sp>
        <p:nvSpPr>
          <p:cNvPr id="326" name="Google Shape;326;p29"/>
          <p:cNvSpPr txBox="1"/>
          <p:nvPr/>
        </p:nvSpPr>
        <p:spPr>
          <a:xfrm>
            <a:off x="753600" y="1155500"/>
            <a:ext cx="7636800" cy="49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RRT* extension for more complex dynamics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Builds a tree of trajectories in the free configuration space, rooted in the initial configuration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Optimall connection of any pair of states, with a fixed-final-state free-final-time controller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Probabilistic complete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Asymptotically</a:t>
            </a:r>
            <a:r>
              <a:rPr lang="en-US" sz="2200"/>
              <a:t> optimal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"/>
          <p:cNvSpPr txBox="1"/>
          <p:nvPr/>
        </p:nvSpPr>
        <p:spPr>
          <a:xfrm>
            <a:off x="1785150" y="1336500"/>
            <a:ext cx="5573700" cy="18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Algorithm for optimally connecting two states</a:t>
            </a:r>
            <a:endParaRPr b="1" sz="3600"/>
          </a:p>
        </p:txBody>
      </p:sp>
      <p:sp>
        <p:nvSpPr>
          <p:cNvPr id="334" name="Google Shape;334;p30"/>
          <p:cNvSpPr txBox="1"/>
          <p:nvPr/>
        </p:nvSpPr>
        <p:spPr>
          <a:xfrm>
            <a:off x="1201500" y="3429000"/>
            <a:ext cx="6741000" cy="10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Applied to controllable linear system of this type:</a:t>
            </a:r>
            <a:endParaRPr sz="2400"/>
          </a:p>
        </p:txBody>
      </p:sp>
      <p:pic>
        <p:nvPicPr>
          <p:cNvPr id="335" name="Google Shape;3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675" y="4106275"/>
            <a:ext cx="3743325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342" name="Google Shape;342;p31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343" name="Google Shape;343;p31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344" name="Google Shape;3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50" y="3173463"/>
            <a:ext cx="19812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525" y="2521738"/>
            <a:ext cx="19526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848" y="4430700"/>
            <a:ext cx="5820049" cy="11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1"/>
          <p:cNvSpPr txBox="1"/>
          <p:nvPr/>
        </p:nvSpPr>
        <p:spPr>
          <a:xfrm>
            <a:off x="467850" y="296400"/>
            <a:ext cx="7990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Definition of trajectory of the system</a:t>
            </a:r>
            <a:endParaRPr b="1" sz="2400"/>
          </a:p>
        </p:txBody>
      </p:sp>
      <p:sp>
        <p:nvSpPr>
          <p:cNvPr id="348" name="Google Shape;348;p31"/>
          <p:cNvSpPr txBox="1"/>
          <p:nvPr/>
        </p:nvSpPr>
        <p:spPr>
          <a:xfrm>
            <a:off x="467850" y="3851350"/>
            <a:ext cx="45369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Cost of trajectory:</a:t>
            </a:r>
            <a:endParaRPr sz="2400"/>
          </a:p>
        </p:txBody>
      </p:sp>
      <p:pic>
        <p:nvPicPr>
          <p:cNvPr id="349" name="Google Shape;34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8150" y="1038247"/>
            <a:ext cx="3587700" cy="54497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1"/>
          <p:cNvSpPr txBox="1"/>
          <p:nvPr/>
        </p:nvSpPr>
        <p:spPr>
          <a:xfrm>
            <a:off x="467850" y="1764800"/>
            <a:ext cx="53163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ta</a:t>
            </a:r>
            <a:r>
              <a:rPr lang="en-US" sz="2400"/>
              <a:t> is the total time of the trajectory</a:t>
            </a:r>
            <a:endParaRPr sz="2400"/>
          </a:p>
        </p:txBody>
      </p:sp>
      <p:sp>
        <p:nvSpPr>
          <p:cNvPr id="351" name="Google Shape;351;p31"/>
          <p:cNvSpPr txBox="1"/>
          <p:nvPr/>
        </p:nvSpPr>
        <p:spPr>
          <a:xfrm>
            <a:off x="3808050" y="2423063"/>
            <a:ext cx="1124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where</a:t>
            </a:r>
            <a:endParaRPr sz="2400"/>
          </a:p>
        </p:txBody>
      </p:sp>
      <p:sp>
        <p:nvSpPr>
          <p:cNvPr id="352" name="Google Shape;352;p31"/>
          <p:cNvSpPr txBox="1"/>
          <p:nvPr/>
        </p:nvSpPr>
        <p:spPr>
          <a:xfrm>
            <a:off x="3808050" y="3137213"/>
            <a:ext cx="1124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where</a:t>
            </a:r>
            <a:endParaRPr sz="2400"/>
          </a:p>
        </p:txBody>
      </p:sp>
      <p:pic>
        <p:nvPicPr>
          <p:cNvPr id="353" name="Google Shape;353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90803" y="2423100"/>
            <a:ext cx="1927747" cy="5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68758" y="3169738"/>
            <a:ext cx="2124242" cy="4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32897" y="4790463"/>
            <a:ext cx="1905000" cy="395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4525" y="1919562"/>
            <a:ext cx="293050" cy="2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 txBox="1"/>
          <p:nvPr/>
        </p:nvSpPr>
        <p:spPr>
          <a:xfrm>
            <a:off x="601400" y="341150"/>
            <a:ext cx="4273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Objective</a:t>
            </a:r>
            <a:r>
              <a:rPr lang="en-US" sz="2400"/>
              <a:t>:</a:t>
            </a:r>
            <a:endParaRPr sz="2400"/>
          </a:p>
        </p:txBody>
      </p:sp>
      <p:sp>
        <p:nvSpPr>
          <p:cNvPr id="364" name="Google Shape;364;p32"/>
          <p:cNvSpPr txBox="1"/>
          <p:nvPr/>
        </p:nvSpPr>
        <p:spPr>
          <a:xfrm>
            <a:off x="601400" y="1046613"/>
            <a:ext cx="8001000" cy="1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Given q</a:t>
            </a:r>
            <a:r>
              <a:rPr baseline="-25000" lang="en-US" sz="2400"/>
              <a:t>0</a:t>
            </a:r>
            <a:r>
              <a:rPr lang="en-US" sz="2400"/>
              <a:t> and </a:t>
            </a:r>
            <a:r>
              <a:rPr lang="en-US" sz="2400"/>
              <a:t>q</a:t>
            </a:r>
            <a:r>
              <a:rPr baseline="-25000" lang="en-US" sz="2400"/>
              <a:t>1</a:t>
            </a:r>
            <a:r>
              <a:rPr lang="en-US" sz="2400"/>
              <a:t> and a controllable linear system, Finding the best trajectory connetting </a:t>
            </a:r>
            <a:r>
              <a:rPr lang="en-US" sz="2400"/>
              <a:t>q</a:t>
            </a:r>
            <a:r>
              <a:rPr baseline="-25000" lang="en-US" sz="2400"/>
              <a:t>0</a:t>
            </a:r>
            <a:r>
              <a:rPr lang="en-US" sz="2400"/>
              <a:t> and </a:t>
            </a:r>
            <a:r>
              <a:rPr lang="en-US" sz="2400"/>
              <a:t>q</a:t>
            </a:r>
            <a:r>
              <a:rPr baseline="-25000" lang="en-US" sz="2400"/>
              <a:t>1</a:t>
            </a:r>
            <a:r>
              <a:rPr lang="en-US" sz="2400"/>
              <a:t> that minimize the cost function c* both </a:t>
            </a:r>
            <a:r>
              <a:rPr lang="en-US" sz="2400"/>
              <a:t>in terms of control efforts and time </a:t>
            </a:r>
            <a:r>
              <a:rPr lang="en-US" sz="2400">
                <a:solidFill>
                  <a:schemeClr val="dk1"/>
                </a:solidFill>
              </a:rPr>
              <a:t>tau</a:t>
            </a:r>
            <a:r>
              <a:rPr lang="en-US" sz="2400"/>
              <a:t> that are in a t</a:t>
            </a:r>
            <a:r>
              <a:rPr lang="en-US" sz="2400"/>
              <a:t>rade off relationship</a:t>
            </a:r>
            <a:endParaRPr sz="2400"/>
          </a:p>
        </p:txBody>
      </p:sp>
      <p:pic>
        <p:nvPicPr>
          <p:cNvPr id="365" name="Google Shape;36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325" y="3270300"/>
            <a:ext cx="8000999" cy="1193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7950" y="5050975"/>
            <a:ext cx="71437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2"/>
          <p:cNvSpPr txBox="1"/>
          <p:nvPr/>
        </p:nvSpPr>
        <p:spPr>
          <a:xfrm>
            <a:off x="601400" y="2857725"/>
            <a:ext cx="8001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For arbitrary </a:t>
            </a:r>
            <a:r>
              <a:rPr lang="en-US" sz="2400">
                <a:solidFill>
                  <a:schemeClr val="dk1"/>
                </a:solidFill>
              </a:rPr>
              <a:t>ta</a:t>
            </a:r>
            <a:r>
              <a:rPr lang="en-US" sz="2400"/>
              <a:t> the best control policy is:</a:t>
            </a:r>
            <a:endParaRPr sz="2400"/>
          </a:p>
        </p:txBody>
      </p:sp>
      <p:sp>
        <p:nvSpPr>
          <p:cNvPr id="368" name="Google Shape;368;p32"/>
          <p:cNvSpPr txBox="1"/>
          <p:nvPr/>
        </p:nvSpPr>
        <p:spPr>
          <a:xfrm>
            <a:off x="4009200" y="4347800"/>
            <a:ext cx="11256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where</a:t>
            </a:r>
            <a:endParaRPr sz="2400"/>
          </a:p>
        </p:txBody>
      </p:sp>
      <p:pic>
        <p:nvPicPr>
          <p:cNvPr id="369" name="Google Shape;36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325" y="2221297"/>
            <a:ext cx="428625" cy="365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7650" y="3028012"/>
            <a:ext cx="293050" cy="2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3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377" name="Google Shape;377;p33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378" name="Google Shape;378;p33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379" name="Google Shape;3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61" y="4731750"/>
            <a:ext cx="6461139" cy="6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850" y="1933438"/>
            <a:ext cx="8839201" cy="535527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3"/>
          <p:cNvSpPr txBox="1"/>
          <p:nvPr/>
        </p:nvSpPr>
        <p:spPr>
          <a:xfrm>
            <a:off x="220850" y="146400"/>
            <a:ext cx="3970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Differential equations</a:t>
            </a:r>
            <a:endParaRPr b="1" sz="2400"/>
          </a:p>
        </p:txBody>
      </p:sp>
      <p:sp>
        <p:nvSpPr>
          <p:cNvPr id="382" name="Google Shape;382;p33"/>
          <p:cNvSpPr txBox="1"/>
          <p:nvPr/>
        </p:nvSpPr>
        <p:spPr>
          <a:xfrm>
            <a:off x="220850" y="1051625"/>
            <a:ext cx="87708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G(t) (called weighted controllability matrix) is the solution to this Lyapunov equation:</a:t>
            </a:r>
            <a:endParaRPr sz="2400"/>
          </a:p>
        </p:txBody>
      </p:sp>
      <p:sp>
        <p:nvSpPr>
          <p:cNvPr id="383" name="Google Shape;383;p33"/>
          <p:cNvSpPr txBox="1"/>
          <p:nvPr/>
        </p:nvSpPr>
        <p:spPr>
          <a:xfrm>
            <a:off x="264500" y="2449275"/>
            <a:ext cx="87708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If the system is controllable, then G(t) is always </a:t>
            </a:r>
            <a:r>
              <a:rPr lang="en-US" sz="2400"/>
              <a:t>positive-definite and then</a:t>
            </a:r>
            <a:r>
              <a:rPr lang="en-US" sz="2400"/>
              <a:t> invertible </a:t>
            </a:r>
            <a:endParaRPr sz="2400"/>
          </a:p>
        </p:txBody>
      </p:sp>
      <p:sp>
        <p:nvSpPr>
          <p:cNvPr id="384" name="Google Shape;384;p33"/>
          <p:cNvSpPr txBox="1"/>
          <p:nvPr/>
        </p:nvSpPr>
        <p:spPr>
          <a:xfrm>
            <a:off x="230250" y="3869013"/>
            <a:ext cx="8683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qba</a:t>
            </a:r>
            <a:r>
              <a:rPr lang="en-US" sz="2400"/>
              <a:t> (called free evolution of the state) is the solution to this differential equation:</a:t>
            </a:r>
            <a:endParaRPr sz="2400"/>
          </a:p>
        </p:txBody>
      </p:sp>
      <p:pic>
        <p:nvPicPr>
          <p:cNvPr id="385" name="Google Shape;38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450" y="3985550"/>
            <a:ext cx="495300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"/>
          <p:cNvSpPr txBox="1"/>
          <p:nvPr/>
        </p:nvSpPr>
        <p:spPr>
          <a:xfrm>
            <a:off x="1785150" y="2479500"/>
            <a:ext cx="5573700" cy="18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How to find </a:t>
            </a:r>
            <a:r>
              <a:rPr b="1" lang="en-US" sz="3600">
                <a:solidFill>
                  <a:schemeClr val="dk1"/>
                </a:solidFill>
              </a:rPr>
              <a:t>ta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393" name="Google Shape;3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7725" y="2539775"/>
            <a:ext cx="624550" cy="53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400" name="Google Shape;400;p35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401" name="Google Shape;401;p35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402" name="Google Shape;4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627" y="2169925"/>
            <a:ext cx="6425199" cy="12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113" y="4103300"/>
            <a:ext cx="6861075" cy="85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8575" y="5364275"/>
            <a:ext cx="5806851" cy="63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406" y="416175"/>
            <a:ext cx="8250481" cy="123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5"/>
          <p:cNvSpPr/>
          <p:nvPr/>
        </p:nvSpPr>
        <p:spPr>
          <a:xfrm>
            <a:off x="4188650" y="1660000"/>
            <a:ext cx="383400" cy="510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5"/>
          <p:cNvSpPr/>
          <p:nvPr/>
        </p:nvSpPr>
        <p:spPr>
          <a:xfrm>
            <a:off x="3696275" y="3664625"/>
            <a:ext cx="1203000" cy="4572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6"/>
          <p:cNvSpPr txBox="1"/>
          <p:nvPr/>
        </p:nvSpPr>
        <p:spPr>
          <a:xfrm>
            <a:off x="583800" y="288400"/>
            <a:ext cx="4273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Properties of </a:t>
            </a:r>
            <a:r>
              <a:rPr b="1" lang="en-US" sz="2400">
                <a:solidFill>
                  <a:schemeClr val="dk1"/>
                </a:solidFill>
              </a:rPr>
              <a:t>c(tau)</a:t>
            </a:r>
            <a:r>
              <a:rPr b="1" lang="en-US" sz="2400"/>
              <a:t> </a:t>
            </a:r>
            <a:endParaRPr b="1" sz="2400"/>
          </a:p>
        </p:txBody>
      </p:sp>
      <p:sp>
        <p:nvSpPr>
          <p:cNvPr id="415" name="Google Shape;415;p36"/>
          <p:cNvSpPr txBox="1"/>
          <p:nvPr/>
        </p:nvSpPr>
        <p:spPr>
          <a:xfrm>
            <a:off x="583800" y="3061875"/>
            <a:ext cx="7707900" cy="19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c(ta </a:t>
            </a:r>
            <a:r>
              <a:rPr lang="en-US" sz="2400"/>
              <a:t> can have multiple local minima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c(ta  </a:t>
            </a:r>
            <a:r>
              <a:rPr lang="en-US" sz="2400">
                <a:solidFill>
                  <a:srgbClr val="0D0D0D"/>
                </a:solidFill>
              </a:rPr>
              <a:t>&gt;</a:t>
            </a:r>
            <a:r>
              <a:rPr lang="en-US" sz="2400">
                <a:solidFill>
                  <a:schemeClr val="dk1"/>
                </a:solidFill>
              </a:rPr>
              <a:t> ta </a:t>
            </a:r>
            <a:r>
              <a:rPr lang="en-US" sz="2400">
                <a:solidFill>
                  <a:srgbClr val="0D0D0D"/>
                </a:solidFill>
              </a:rPr>
              <a:t>for all</a:t>
            </a:r>
            <a:r>
              <a:rPr lang="en-US" sz="2400">
                <a:solidFill>
                  <a:schemeClr val="dk1"/>
                </a:solidFill>
              </a:rPr>
              <a:t> ta</a:t>
            </a:r>
            <a:r>
              <a:rPr lang="en-US" sz="2400">
                <a:solidFill>
                  <a:srgbClr val="0D0D0D"/>
                </a:solidFill>
              </a:rPr>
              <a:t>&gt;0</a:t>
            </a:r>
            <a:r>
              <a:rPr lang="en-US" sz="2400"/>
              <a:t> being G(t) positive-definite</a:t>
            </a:r>
            <a:endParaRPr sz="2400"/>
          </a:p>
        </p:txBody>
      </p:sp>
      <p:pic>
        <p:nvPicPr>
          <p:cNvPr id="416" name="Google Shape;41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463" y="876312"/>
            <a:ext cx="6861075" cy="85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9925" y="2137288"/>
            <a:ext cx="5806851" cy="634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6"/>
          <p:cNvSpPr txBox="1"/>
          <p:nvPr/>
        </p:nvSpPr>
        <p:spPr>
          <a:xfrm>
            <a:off x="2549700" y="4195175"/>
            <a:ext cx="3776100" cy="8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c(</a:t>
            </a:r>
            <a:r>
              <a:rPr lang="en-US" sz="2400">
                <a:solidFill>
                  <a:srgbClr val="0D0D0D"/>
                </a:solidFill>
              </a:rPr>
              <a:t>ta = ta + positive num.</a:t>
            </a:r>
            <a:endParaRPr sz="2400">
              <a:solidFill>
                <a:srgbClr val="0D0D0D"/>
              </a:solidFill>
            </a:endParaRPr>
          </a:p>
        </p:txBody>
      </p:sp>
      <p:sp>
        <p:nvSpPr>
          <p:cNvPr id="419" name="Google Shape;419;p36"/>
          <p:cNvSpPr txBox="1"/>
          <p:nvPr/>
        </p:nvSpPr>
        <p:spPr>
          <a:xfrm>
            <a:off x="293500" y="5033075"/>
            <a:ext cx="8769000" cy="9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We can study this function to find </a:t>
            </a:r>
            <a:r>
              <a:rPr lang="en-US" sz="2400">
                <a:solidFill>
                  <a:schemeClr val="dk1"/>
                </a:solidFill>
              </a:rPr>
              <a:t>ta </a:t>
            </a:r>
            <a:r>
              <a:rPr lang="en-US" sz="2400"/>
              <a:t> that minimizes cost function</a:t>
            </a:r>
            <a:endParaRPr sz="2400"/>
          </a:p>
        </p:txBody>
      </p:sp>
      <p:pic>
        <p:nvPicPr>
          <p:cNvPr id="420" name="Google Shape;42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8350" y="235239"/>
            <a:ext cx="846762" cy="59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2500" y="3141896"/>
            <a:ext cx="677425" cy="477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1225" y="5097572"/>
            <a:ext cx="428625" cy="365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9775" y="3698387"/>
            <a:ext cx="293050" cy="27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56925" y="3698387"/>
            <a:ext cx="293050" cy="27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2500" y="3595083"/>
            <a:ext cx="677425" cy="477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9700" y="4246983"/>
            <a:ext cx="677425" cy="477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75100" y="4365737"/>
            <a:ext cx="293050" cy="2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 txBox="1"/>
          <p:nvPr/>
        </p:nvSpPr>
        <p:spPr>
          <a:xfrm>
            <a:off x="1248300" y="2007275"/>
            <a:ext cx="6647400" cy="30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To find the value of ta that globally minimizes the cost function, we can utilize the secondary properties of c(ta  to monitor the value of c* during the forward integration loop of</a:t>
            </a:r>
            <a:r>
              <a:rPr lang="en-US" sz="2400"/>
              <a:t> Gdo and qdo</a:t>
            </a:r>
            <a:r>
              <a:rPr lang="en-US" sz="2400"/>
              <a:t> using the 4th-order Runge-Kutta method. The value c* is guaranteed to be a global minimum when the iterative ta exceeds c* and then can no longer decrease.</a:t>
            </a:r>
            <a:endParaRPr sz="2400"/>
          </a:p>
        </p:txBody>
      </p:sp>
      <p:sp>
        <p:nvSpPr>
          <p:cNvPr id="435" name="Google Shape;435;p37"/>
          <p:cNvSpPr txBox="1"/>
          <p:nvPr/>
        </p:nvSpPr>
        <p:spPr>
          <a:xfrm>
            <a:off x="438900" y="876300"/>
            <a:ext cx="41331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Global minima of </a:t>
            </a:r>
            <a:r>
              <a:rPr b="1" lang="en-US" sz="2400">
                <a:solidFill>
                  <a:schemeClr val="dk1"/>
                </a:solidFill>
              </a:rPr>
              <a:t>c(tau)</a:t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436" name="Google Shape;43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175" y="832377"/>
            <a:ext cx="846762" cy="59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0925" y="2157787"/>
            <a:ext cx="293050" cy="27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175" y="2800046"/>
            <a:ext cx="677425" cy="477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6500" y="4330287"/>
            <a:ext cx="293050" cy="27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6500" y="3183873"/>
            <a:ext cx="580083" cy="3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3725" y="3574300"/>
            <a:ext cx="507550" cy="34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8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448" name="Google Shape;448;p38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449" name="Google Shape;449;p38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450" name="Google Shape;45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400" y="210525"/>
            <a:ext cx="4405051" cy="5843587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8"/>
          <p:cNvSpPr txBox="1"/>
          <p:nvPr/>
        </p:nvSpPr>
        <p:spPr>
          <a:xfrm>
            <a:off x="5567775" y="340000"/>
            <a:ext cx="3211200" cy="55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Estimation of G(t) </a:t>
            </a:r>
            <a:r>
              <a:rPr lang="en-US" sz="2400">
                <a:solidFill>
                  <a:schemeClr val="dk1"/>
                </a:solidFill>
              </a:rPr>
              <a:t>qb </a:t>
            </a:r>
            <a:r>
              <a:rPr lang="en-US" sz="2400"/>
              <a:t> and c(t) every </a:t>
            </a:r>
            <a:r>
              <a:rPr lang="en-US" sz="2400">
                <a:solidFill>
                  <a:schemeClr val="dk1"/>
                </a:solidFill>
              </a:rPr>
              <a:t>k</a:t>
            </a:r>
            <a:r>
              <a:rPr lang="en-US" sz="2400">
                <a:solidFill>
                  <a:schemeClr val="dk1"/>
                </a:solidFill>
              </a:rPr>
              <a:t>del</a:t>
            </a:r>
            <a:r>
              <a:rPr lang="en-US" sz="2400"/>
              <a:t> seconds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Monitoring step-by-step value of c(t) and c*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h is the interval of time used in 4-th order Runge kutta method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-US" sz="2400"/>
              <a:t>Global minimal when </a:t>
            </a:r>
            <a:r>
              <a:rPr lang="en-US" sz="2400">
                <a:solidFill>
                  <a:schemeClr val="dk1"/>
                </a:solidFill>
              </a:rPr>
              <a:t>ta</a:t>
            </a:r>
            <a:r>
              <a:rPr lang="en-US" sz="2400"/>
              <a:t>&gt;c* found until now</a:t>
            </a:r>
            <a:endParaRPr sz="2400"/>
          </a:p>
        </p:txBody>
      </p:sp>
      <p:pic>
        <p:nvPicPr>
          <p:cNvPr id="452" name="Google Shape;45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4000" y="1178200"/>
            <a:ext cx="625375" cy="3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0825" y="4915762"/>
            <a:ext cx="293050" cy="27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4000" y="825775"/>
            <a:ext cx="495300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9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461" name="Google Shape;461;p39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462" name="Google Shape;462;p39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3" name="Google Shape;463;p39"/>
          <p:cNvSpPr txBox="1"/>
          <p:nvPr/>
        </p:nvSpPr>
        <p:spPr>
          <a:xfrm>
            <a:off x="330000" y="382300"/>
            <a:ext cx="648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rgbClr val="0D0D0D"/>
              </a:solidFill>
            </a:endParaRPr>
          </a:p>
        </p:txBody>
      </p:sp>
      <p:pic>
        <p:nvPicPr>
          <p:cNvPr id="464" name="Google Shape;46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375" y="2862950"/>
            <a:ext cx="71056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788" y="4646325"/>
            <a:ext cx="8839200" cy="533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3425" y="533400"/>
            <a:ext cx="5617175" cy="13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9"/>
          <p:cNvSpPr txBox="1"/>
          <p:nvPr/>
        </p:nvSpPr>
        <p:spPr>
          <a:xfrm>
            <a:off x="5106528" y="1482237"/>
            <a:ext cx="896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y(t)</a:t>
            </a:r>
            <a:endParaRPr sz="2400"/>
          </a:p>
        </p:txBody>
      </p:sp>
      <p:sp>
        <p:nvSpPr>
          <p:cNvPr id="468" name="Google Shape;468;p39"/>
          <p:cNvSpPr txBox="1"/>
          <p:nvPr/>
        </p:nvSpPr>
        <p:spPr>
          <a:xfrm>
            <a:off x="330000" y="2355625"/>
            <a:ext cx="63342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y(t) is the solution to this differential equation:</a:t>
            </a:r>
            <a:endParaRPr sz="2400"/>
          </a:p>
        </p:txBody>
      </p:sp>
      <p:sp>
        <p:nvSpPr>
          <p:cNvPr id="469" name="Google Shape;469;p39"/>
          <p:cNvSpPr txBox="1"/>
          <p:nvPr/>
        </p:nvSpPr>
        <p:spPr>
          <a:xfrm>
            <a:off x="330000" y="4060150"/>
            <a:ext cx="805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Substituting the optimal control policy in the linear system:</a:t>
            </a:r>
            <a:endParaRPr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0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476" name="Google Shape;476;p40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477" name="Google Shape;477;p40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8" name="Google Shape;478;p40"/>
          <p:cNvSpPr txBox="1"/>
          <p:nvPr/>
        </p:nvSpPr>
        <p:spPr>
          <a:xfrm>
            <a:off x="224525" y="367875"/>
            <a:ext cx="52269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479" name="Google Shape;47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3100"/>
            <a:ext cx="8839200" cy="108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2225" y="4648625"/>
            <a:ext cx="40195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0"/>
          <p:cNvSpPr txBox="1"/>
          <p:nvPr/>
        </p:nvSpPr>
        <p:spPr>
          <a:xfrm>
            <a:off x="308025" y="503025"/>
            <a:ext cx="67128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Composite differential equation</a:t>
            </a:r>
            <a:endParaRPr b="1" sz="2400"/>
          </a:p>
        </p:txBody>
      </p:sp>
      <p:sp>
        <p:nvSpPr>
          <p:cNvPr id="482" name="Google Shape;482;p40"/>
          <p:cNvSpPr txBox="1"/>
          <p:nvPr/>
        </p:nvSpPr>
        <p:spPr>
          <a:xfrm>
            <a:off x="772975" y="3187800"/>
            <a:ext cx="8020500" cy="12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Integration backward in time </a:t>
            </a:r>
            <a:r>
              <a:rPr lang="en-US" sz="2400"/>
              <a:t>through</a:t>
            </a:r>
            <a:r>
              <a:rPr lang="en-US" sz="2400"/>
              <a:t> 4-th order Runge</a:t>
            </a:r>
            <a:r>
              <a:rPr lang="en-US" sz="2400"/>
              <a:t> </a:t>
            </a:r>
            <a:r>
              <a:rPr lang="en-US" sz="2400"/>
              <a:t>kutta method to obtain q(t) and y(t) estimated every </a:t>
            </a:r>
            <a:r>
              <a:rPr lang="en-US" sz="2400">
                <a:solidFill>
                  <a:schemeClr val="dk1"/>
                </a:solidFill>
              </a:rPr>
              <a:t>k*de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seconds</a:t>
            </a:r>
            <a:endParaRPr sz="2400"/>
          </a:p>
        </p:txBody>
      </p:sp>
      <p:pic>
        <p:nvPicPr>
          <p:cNvPr id="483" name="Google Shape;483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2825" y="3698325"/>
            <a:ext cx="625375" cy="3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1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490" name="Google Shape;490;p41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491" name="Google Shape;491;p41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492" name="Google Shape;49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2150" y="5018813"/>
            <a:ext cx="52197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1103" y="3699675"/>
            <a:ext cx="3537284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1"/>
          <p:cNvSpPr txBox="1"/>
          <p:nvPr/>
        </p:nvSpPr>
        <p:spPr>
          <a:xfrm>
            <a:off x="845600" y="533400"/>
            <a:ext cx="76125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Wrap up of the </a:t>
            </a:r>
            <a:r>
              <a:rPr b="1" lang="en-US" sz="2400"/>
              <a:t>algorithm</a:t>
            </a:r>
            <a:endParaRPr b="1" sz="2400"/>
          </a:p>
        </p:txBody>
      </p:sp>
      <p:sp>
        <p:nvSpPr>
          <p:cNvPr id="495" name="Google Shape;495;p41"/>
          <p:cNvSpPr txBox="1"/>
          <p:nvPr/>
        </p:nvSpPr>
        <p:spPr>
          <a:xfrm>
            <a:off x="4009200" y="4349313"/>
            <a:ext cx="1125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where</a:t>
            </a:r>
            <a:endParaRPr sz="2400"/>
          </a:p>
        </p:txBody>
      </p:sp>
      <p:sp>
        <p:nvSpPr>
          <p:cNvPr id="496" name="Google Shape;496;p41"/>
          <p:cNvSpPr txBox="1"/>
          <p:nvPr/>
        </p:nvSpPr>
        <p:spPr>
          <a:xfrm>
            <a:off x="845825" y="1181675"/>
            <a:ext cx="5575500" cy="12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Input: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Linear Controllable system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q</a:t>
            </a:r>
            <a:r>
              <a:rPr baseline="-25000" lang="en-US" sz="2400"/>
              <a:t>0</a:t>
            </a:r>
            <a:r>
              <a:rPr lang="en-US" sz="2400"/>
              <a:t> and q</a:t>
            </a:r>
            <a:r>
              <a:rPr baseline="-25000" lang="en-US" sz="2400"/>
              <a:t>1    </a:t>
            </a:r>
            <a:endParaRPr baseline="-25000" sz="2400"/>
          </a:p>
        </p:txBody>
      </p:sp>
      <p:sp>
        <p:nvSpPr>
          <p:cNvPr id="497" name="Google Shape;497;p41"/>
          <p:cNvSpPr txBox="1"/>
          <p:nvPr/>
        </p:nvSpPr>
        <p:spPr>
          <a:xfrm>
            <a:off x="845600" y="2592713"/>
            <a:ext cx="76125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Output: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Optimal trajectory in terms of time and </a:t>
            </a:r>
            <a:r>
              <a:rPr lang="en-US" sz="2400"/>
              <a:t>control</a:t>
            </a:r>
            <a:r>
              <a:rPr lang="en-US" sz="2400"/>
              <a:t> effort</a:t>
            </a:r>
            <a:endParaRPr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2"/>
          <p:cNvSpPr txBox="1"/>
          <p:nvPr/>
        </p:nvSpPr>
        <p:spPr>
          <a:xfrm>
            <a:off x="947325" y="441700"/>
            <a:ext cx="64671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KRRT* algorithm</a:t>
            </a:r>
            <a:endParaRPr b="1" sz="2400"/>
          </a:p>
        </p:txBody>
      </p:sp>
      <p:pic>
        <p:nvPicPr>
          <p:cNvPr id="505" name="Google Shape;50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00" y="1051900"/>
            <a:ext cx="7023876" cy="407777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42"/>
          <p:cNvSpPr/>
          <p:nvPr/>
        </p:nvSpPr>
        <p:spPr>
          <a:xfrm>
            <a:off x="1378675" y="1866450"/>
            <a:ext cx="1067100" cy="22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3"/>
          <p:cNvSpPr txBox="1"/>
          <p:nvPr/>
        </p:nvSpPr>
        <p:spPr>
          <a:xfrm>
            <a:off x="947325" y="441700"/>
            <a:ext cx="64671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KRRT* algorithm</a:t>
            </a:r>
            <a:endParaRPr b="1" sz="2400"/>
          </a:p>
        </p:txBody>
      </p:sp>
      <p:pic>
        <p:nvPicPr>
          <p:cNvPr id="514" name="Google Shape;51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00" y="1051900"/>
            <a:ext cx="7023876" cy="4077775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3"/>
          <p:cNvSpPr/>
          <p:nvPr/>
        </p:nvSpPr>
        <p:spPr>
          <a:xfrm>
            <a:off x="1606575" y="2487900"/>
            <a:ext cx="1895700" cy="255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3"/>
          <p:cNvSpPr txBox="1"/>
          <p:nvPr/>
        </p:nvSpPr>
        <p:spPr>
          <a:xfrm>
            <a:off x="3502275" y="2177100"/>
            <a:ext cx="1761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RANDOM SAMPLING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4"/>
          <p:cNvSpPr txBox="1"/>
          <p:nvPr/>
        </p:nvSpPr>
        <p:spPr>
          <a:xfrm>
            <a:off x="947325" y="441700"/>
            <a:ext cx="64671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KRRT* algorithm</a:t>
            </a:r>
            <a:endParaRPr b="1" sz="2400"/>
          </a:p>
        </p:txBody>
      </p:sp>
      <p:pic>
        <p:nvPicPr>
          <p:cNvPr id="524" name="Google Shape;52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00" y="1051900"/>
            <a:ext cx="7023876" cy="40777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44"/>
          <p:cNvSpPr/>
          <p:nvPr/>
        </p:nvSpPr>
        <p:spPr>
          <a:xfrm>
            <a:off x="1585850" y="2743200"/>
            <a:ext cx="4485600" cy="61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4"/>
          <p:cNvSpPr txBox="1"/>
          <p:nvPr/>
        </p:nvSpPr>
        <p:spPr>
          <a:xfrm>
            <a:off x="4652300" y="2415475"/>
            <a:ext cx="1926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PARENT SELECTION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5"/>
          <p:cNvSpPr txBox="1"/>
          <p:nvPr/>
        </p:nvSpPr>
        <p:spPr>
          <a:xfrm>
            <a:off x="947325" y="441700"/>
            <a:ext cx="64671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KRRT* algorithm</a:t>
            </a:r>
            <a:endParaRPr b="1" sz="2400"/>
          </a:p>
        </p:txBody>
      </p:sp>
      <p:pic>
        <p:nvPicPr>
          <p:cNvPr id="534" name="Google Shape;53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00" y="1051900"/>
            <a:ext cx="7023876" cy="407777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5"/>
          <p:cNvSpPr/>
          <p:nvPr/>
        </p:nvSpPr>
        <p:spPr>
          <a:xfrm>
            <a:off x="1409700" y="3344050"/>
            <a:ext cx="5418000" cy="88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5"/>
          <p:cNvSpPr txBox="1"/>
          <p:nvPr/>
        </p:nvSpPr>
        <p:spPr>
          <a:xfrm>
            <a:off x="5812550" y="3057850"/>
            <a:ext cx="1926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REWIRING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6"/>
          <p:cNvSpPr txBox="1"/>
          <p:nvPr/>
        </p:nvSpPr>
        <p:spPr>
          <a:xfrm>
            <a:off x="947325" y="441700"/>
            <a:ext cx="64671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KRRT* algorithm</a:t>
            </a:r>
            <a:endParaRPr b="1" sz="2400"/>
          </a:p>
        </p:txBody>
      </p:sp>
      <p:pic>
        <p:nvPicPr>
          <p:cNvPr id="544" name="Google Shape;54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00" y="1051900"/>
            <a:ext cx="7023876" cy="407777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6"/>
          <p:cNvSpPr/>
          <p:nvPr/>
        </p:nvSpPr>
        <p:spPr>
          <a:xfrm>
            <a:off x="1627275" y="4425250"/>
            <a:ext cx="984300" cy="26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/>
          <p:nvPr/>
        </p:nvSpPr>
        <p:spPr>
          <a:xfrm>
            <a:off x="947325" y="441700"/>
            <a:ext cx="64671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KRRT* implementation</a:t>
            </a:r>
            <a:endParaRPr b="1" sz="2400"/>
          </a:p>
        </p:txBody>
      </p:sp>
      <p:sp>
        <p:nvSpPr>
          <p:cNvPr id="553" name="Google Shape;553;p47"/>
          <p:cNvSpPr txBox="1"/>
          <p:nvPr/>
        </p:nvSpPr>
        <p:spPr>
          <a:xfrm>
            <a:off x="947325" y="1318986"/>
            <a:ext cx="6692400" cy="43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Nearest neighbours: full tree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Exactly</a:t>
            </a:r>
            <a:r>
              <a:rPr lang="en-US" sz="2200"/>
              <a:t> arrives at the final configuration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Collision check:</a:t>
            </a:r>
            <a:endParaRPr sz="2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Footprint of the robot not </a:t>
            </a:r>
            <a:r>
              <a:rPr lang="en-US" sz="1900"/>
              <a:t>collides with any obstacle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Inputs in the admissible ranges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The constraints on v</a:t>
            </a:r>
            <a:r>
              <a:rPr baseline="-25000" lang="en-US" sz="1900"/>
              <a:t>si</a:t>
            </a:r>
            <a:r>
              <a:rPr lang="en-US" sz="1900"/>
              <a:t> are not violated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8"/>
          <p:cNvSpPr txBox="1"/>
          <p:nvPr/>
        </p:nvSpPr>
        <p:spPr>
          <a:xfrm>
            <a:off x="1785150" y="2479500"/>
            <a:ext cx="5573700" cy="18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Linearization</a:t>
            </a:r>
            <a:endParaRPr b="1" sz="36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9"/>
          <p:cNvSpPr txBox="1"/>
          <p:nvPr/>
        </p:nvSpPr>
        <p:spPr>
          <a:xfrm>
            <a:off x="273875" y="223800"/>
            <a:ext cx="77493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KRRT* for non-linear systems</a:t>
            </a:r>
            <a:endParaRPr b="1" sz="2400"/>
          </a:p>
        </p:txBody>
      </p:sp>
      <p:pic>
        <p:nvPicPr>
          <p:cNvPr id="568" name="Google Shape;56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600" y="1725450"/>
            <a:ext cx="6160799" cy="7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9"/>
          <p:cNvSpPr txBox="1"/>
          <p:nvPr/>
        </p:nvSpPr>
        <p:spPr>
          <a:xfrm>
            <a:off x="273875" y="843000"/>
            <a:ext cx="846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Linearization of the original system with first order taylor expansion:</a:t>
            </a:r>
            <a:endParaRPr sz="2400"/>
          </a:p>
        </p:txBody>
      </p:sp>
      <p:pic>
        <p:nvPicPr>
          <p:cNvPr id="570" name="Google Shape;57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29100"/>
            <a:ext cx="5430263" cy="2301094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9"/>
          <p:cNvSpPr txBox="1"/>
          <p:nvPr/>
        </p:nvSpPr>
        <p:spPr>
          <a:xfrm>
            <a:off x="4012650" y="2593513"/>
            <a:ext cx="11187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where</a:t>
            </a:r>
            <a:endParaRPr sz="2400"/>
          </a:p>
        </p:txBody>
      </p:sp>
      <p:pic>
        <p:nvPicPr>
          <p:cNvPr id="572" name="Google Shape;572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5838" y="4229913"/>
            <a:ext cx="24765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3900" y="5000163"/>
            <a:ext cx="300037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49"/>
          <p:cNvSpPr txBox="1"/>
          <p:nvPr/>
        </p:nvSpPr>
        <p:spPr>
          <a:xfrm>
            <a:off x="5974625" y="3152900"/>
            <a:ext cx="30003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At the beginning of each iteration re-linearization of the system in q=</a:t>
            </a:r>
            <a:r>
              <a:rPr lang="en-US" sz="2400"/>
              <a:t>qi that is the randomly sampled configuration </a:t>
            </a:r>
            <a:endParaRPr sz="2400"/>
          </a:p>
        </p:txBody>
      </p:sp>
      <p:pic>
        <p:nvPicPr>
          <p:cNvPr id="575" name="Google Shape;575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00875" y="4277549"/>
            <a:ext cx="258274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49050" y="4378400"/>
            <a:ext cx="318775" cy="3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0"/>
          <p:cNvSpPr txBox="1"/>
          <p:nvPr/>
        </p:nvSpPr>
        <p:spPr>
          <a:xfrm>
            <a:off x="278975" y="165650"/>
            <a:ext cx="677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Linearization for a generic point</a:t>
            </a:r>
            <a:endParaRPr b="1" sz="2400"/>
          </a:p>
        </p:txBody>
      </p:sp>
      <p:pic>
        <p:nvPicPr>
          <p:cNvPr id="584" name="Google Shape;58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5250"/>
            <a:ext cx="8839200" cy="200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950" y="2935802"/>
            <a:ext cx="2181225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6575" y="3222636"/>
            <a:ext cx="5955025" cy="2474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1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593" name="Google Shape;593;p51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594" name="Google Shape;594;p51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5" name="Google Shape;595;p51"/>
          <p:cNvSpPr txBox="1"/>
          <p:nvPr/>
        </p:nvSpPr>
        <p:spPr>
          <a:xfrm>
            <a:off x="152400" y="180300"/>
            <a:ext cx="73521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Controllability of the resulting linearized system</a:t>
            </a:r>
            <a:endParaRPr b="1" sz="2400"/>
          </a:p>
        </p:txBody>
      </p:sp>
      <p:sp>
        <p:nvSpPr>
          <p:cNvPr id="596" name="Google Shape;596;p51"/>
          <p:cNvSpPr txBox="1"/>
          <p:nvPr/>
        </p:nvSpPr>
        <p:spPr>
          <a:xfrm>
            <a:off x="152400" y="3538300"/>
            <a:ext cx="87567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</a:rPr>
              <a:t>This condition is always satisfied because we already discard the trajectories that do not meet it in COLLISIONFREE function</a:t>
            </a:r>
            <a:endParaRPr sz="2600"/>
          </a:p>
        </p:txBody>
      </p:sp>
      <p:sp>
        <p:nvSpPr>
          <p:cNvPr id="597" name="Google Shape;597;p51"/>
          <p:cNvSpPr txBox="1"/>
          <p:nvPr/>
        </p:nvSpPr>
        <p:spPr>
          <a:xfrm>
            <a:off x="152400" y="1101950"/>
            <a:ext cx="5176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controllability matrix is:</a:t>
            </a:r>
            <a:endParaRPr sz="2400"/>
          </a:p>
        </p:txBody>
      </p:sp>
      <p:sp>
        <p:nvSpPr>
          <p:cNvPr id="598" name="Google Shape;598;p51"/>
          <p:cNvSpPr txBox="1"/>
          <p:nvPr/>
        </p:nvSpPr>
        <p:spPr>
          <a:xfrm>
            <a:off x="152400" y="4451738"/>
            <a:ext cx="8514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Therefore, the linear system is controllable as C consistently maintains full rank</a:t>
            </a:r>
            <a:endParaRPr sz="2400"/>
          </a:p>
        </p:txBody>
      </p:sp>
      <p:pic>
        <p:nvPicPr>
          <p:cNvPr id="599" name="Google Shape;59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716438"/>
            <a:ext cx="6858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43225"/>
            <a:ext cx="8839197" cy="69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0625" y="4519427"/>
            <a:ext cx="282050" cy="33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2"/>
          <p:cNvSpPr txBox="1"/>
          <p:nvPr>
            <p:ph type="ctrTitle"/>
          </p:nvPr>
        </p:nvSpPr>
        <p:spPr>
          <a:xfrm>
            <a:off x="1524000" y="2452650"/>
            <a:ext cx="60960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SIMULATIONS</a:t>
            </a:r>
            <a:endParaRPr b="1" i="0" sz="4000" u="none">
              <a:solidFill>
                <a:srgbClr val="8224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3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615" name="Google Shape;615;p53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616" name="Google Shape;616;p53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17" name="Google Shape;617;p53"/>
          <p:cNvSpPr txBox="1"/>
          <p:nvPr/>
        </p:nvSpPr>
        <p:spPr>
          <a:xfrm>
            <a:off x="1655750" y="251375"/>
            <a:ext cx="564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Maps Parameters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618" name="Google Shape;61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0975"/>
            <a:ext cx="8839199" cy="4343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idx="10" type="dt"/>
          </p:nvPr>
        </p:nvSpPr>
        <p:spPr>
          <a:xfrm>
            <a:off x="43434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05/16/2024</a:t>
            </a:r>
            <a:endParaRPr/>
          </a:p>
        </p:txBody>
      </p:sp>
      <p:sp>
        <p:nvSpPr>
          <p:cNvPr id="625" name="Google Shape;625;p54"/>
          <p:cNvSpPr txBox="1"/>
          <p:nvPr>
            <p:ph idx="11" type="ftr"/>
          </p:nvPr>
        </p:nvSpPr>
        <p:spPr>
          <a:xfrm>
            <a:off x="1219200" y="61483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endParaRPr/>
          </a:p>
        </p:txBody>
      </p:sp>
      <p:sp>
        <p:nvSpPr>
          <p:cNvPr id="626" name="Google Shape;626;p54"/>
          <p:cNvSpPr txBox="1"/>
          <p:nvPr>
            <p:ph idx="12" type="sldNum"/>
          </p:nvPr>
        </p:nvSpPr>
        <p:spPr>
          <a:xfrm>
            <a:off x="6553200" y="61483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27" name="Google Shape;627;p54"/>
          <p:cNvSpPr txBox="1"/>
          <p:nvPr/>
        </p:nvSpPr>
        <p:spPr>
          <a:xfrm>
            <a:off x="1655750" y="251375"/>
            <a:ext cx="564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Maps</a:t>
            </a:r>
            <a:endParaRPr b="1"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</p:txBody>
      </p:sp>
      <p:pic>
        <p:nvPicPr>
          <p:cNvPr id="628" name="Google Shape;62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57300"/>
            <a:ext cx="8839201" cy="314235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54"/>
          <p:cNvSpPr txBox="1"/>
          <p:nvPr/>
        </p:nvSpPr>
        <p:spPr>
          <a:xfrm>
            <a:off x="3246000" y="1064388"/>
            <a:ext cx="2652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Empty maps</a:t>
            </a:r>
            <a:endParaRPr b="1" sz="2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90500"/>
            <a:ext cx="8839201" cy="27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749925"/>
            <a:ext cx="8839199" cy="2316534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5"/>
          <p:cNvSpPr txBox="1"/>
          <p:nvPr/>
        </p:nvSpPr>
        <p:spPr>
          <a:xfrm>
            <a:off x="3246000" y="253400"/>
            <a:ext cx="2652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Few Obstacles</a:t>
            </a:r>
            <a:endParaRPr b="1" sz="2400"/>
          </a:p>
        </p:txBody>
      </p:sp>
      <p:sp>
        <p:nvSpPr>
          <p:cNvPr id="639" name="Google Shape;639;p55"/>
          <p:cNvSpPr txBox="1"/>
          <p:nvPr/>
        </p:nvSpPr>
        <p:spPr>
          <a:xfrm>
            <a:off x="3246000" y="3429000"/>
            <a:ext cx="2652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Many </a:t>
            </a:r>
            <a:r>
              <a:rPr b="1" lang="en-US" sz="2400"/>
              <a:t>Obstacles</a:t>
            </a:r>
            <a:endParaRPr b="1" sz="2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6"/>
          <p:cNvSpPr txBox="1"/>
          <p:nvPr/>
        </p:nvSpPr>
        <p:spPr>
          <a:xfrm>
            <a:off x="1750950" y="224050"/>
            <a:ext cx="564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Hyperparameters</a:t>
            </a:r>
            <a:endParaRPr b="1"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</p:txBody>
      </p:sp>
      <p:pic>
        <p:nvPicPr>
          <p:cNvPr id="647" name="Google Shape;64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5775" y="4982750"/>
            <a:ext cx="2442075" cy="1026375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56"/>
          <p:cNvSpPr txBox="1"/>
          <p:nvPr/>
        </p:nvSpPr>
        <p:spPr>
          <a:xfrm>
            <a:off x="1041000" y="1207675"/>
            <a:ext cx="76230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We have tuned the matrix </a:t>
            </a:r>
            <a:r>
              <a:rPr b="1" lang="en-US" sz="2400"/>
              <a:t>R</a:t>
            </a:r>
            <a:r>
              <a:rPr lang="en-US" sz="2400"/>
              <a:t> in the following way:</a:t>
            </a:r>
            <a:endParaRPr sz="2400"/>
          </a:p>
        </p:txBody>
      </p:sp>
      <p:pic>
        <p:nvPicPr>
          <p:cNvPr id="649" name="Google Shape;64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763" y="1863425"/>
            <a:ext cx="2652481" cy="1645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0950" y="3508887"/>
            <a:ext cx="43910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56"/>
          <p:cNvSpPr txBox="1"/>
          <p:nvPr/>
        </p:nvSpPr>
        <p:spPr>
          <a:xfrm>
            <a:off x="1041000" y="4245025"/>
            <a:ext cx="76230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We have constrained </a:t>
            </a:r>
            <a:r>
              <a:rPr lang="en-US" sz="2400"/>
              <a:t> </a:t>
            </a:r>
            <a:r>
              <a:rPr lang="en-US" sz="2400"/>
              <a:t>      to be always positive:</a:t>
            </a:r>
            <a:endParaRPr sz="2400"/>
          </a:p>
        </p:txBody>
      </p:sp>
      <p:pic>
        <p:nvPicPr>
          <p:cNvPr id="652" name="Google Shape;652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10" y="4452387"/>
            <a:ext cx="411400" cy="25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7"/>
          <p:cNvSpPr txBox="1"/>
          <p:nvPr/>
        </p:nvSpPr>
        <p:spPr>
          <a:xfrm>
            <a:off x="959025" y="1377000"/>
            <a:ext cx="7008300" cy="27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Simple - Hard trajectories</a:t>
            </a:r>
            <a:endParaRPr b="1"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Empty maps</a:t>
            </a:r>
            <a:endParaRPr b="1" sz="36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8"/>
          <p:cNvSpPr txBox="1"/>
          <p:nvPr/>
        </p:nvSpPr>
        <p:spPr>
          <a:xfrm>
            <a:off x="1894800" y="238225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Big-empty Map - Simple Trajectory</a:t>
            </a:r>
            <a:endParaRPr b="1" sz="2400"/>
          </a:p>
        </p:txBody>
      </p:sp>
      <p:pic>
        <p:nvPicPr>
          <p:cNvPr id="667" name="Google Shape;66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13" y="1099813"/>
            <a:ext cx="39719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8850" y="1152725"/>
            <a:ext cx="41148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450" y="1654525"/>
            <a:ext cx="41148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0175" y="1654525"/>
            <a:ext cx="41148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9"/>
          <p:cNvSpPr txBox="1"/>
          <p:nvPr/>
        </p:nvSpPr>
        <p:spPr>
          <a:xfrm>
            <a:off x="1925650" y="388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Big-empty Map - Simple Trajectory</a:t>
            </a:r>
            <a:endParaRPr b="1" sz="2400"/>
          </a:p>
        </p:txBody>
      </p:sp>
      <p:pic>
        <p:nvPicPr>
          <p:cNvPr id="678" name="Google Shape;67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650" y="1676700"/>
            <a:ext cx="4019826" cy="30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929" y="1676700"/>
            <a:ext cx="4019834" cy="30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9"/>
          <p:cNvSpPr txBox="1"/>
          <p:nvPr/>
        </p:nvSpPr>
        <p:spPr>
          <a:xfrm>
            <a:off x="3186900" y="876300"/>
            <a:ext cx="27702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N </a:t>
            </a:r>
            <a:r>
              <a:rPr lang="en-US" sz="2400"/>
              <a:t>= 1</a:t>
            </a:r>
            <a:endParaRPr sz="2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0"/>
          <p:cNvSpPr txBox="1"/>
          <p:nvPr/>
        </p:nvSpPr>
        <p:spPr>
          <a:xfrm>
            <a:off x="1925650" y="388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Big-e</a:t>
            </a:r>
            <a:r>
              <a:rPr b="1" lang="en-US" sz="2400"/>
              <a:t>mpty Map - Simple Trajectory</a:t>
            </a:r>
            <a:endParaRPr b="1" sz="2400"/>
          </a:p>
        </p:txBody>
      </p:sp>
      <p:pic>
        <p:nvPicPr>
          <p:cNvPr id="688" name="Google Shape;68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599" y="1275438"/>
            <a:ext cx="4307126" cy="430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1"/>
          <p:cNvSpPr txBox="1"/>
          <p:nvPr/>
        </p:nvSpPr>
        <p:spPr>
          <a:xfrm>
            <a:off x="1894800" y="102600"/>
            <a:ext cx="5354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Big-e</a:t>
            </a:r>
            <a:r>
              <a:rPr b="1" lang="en-US" sz="2400"/>
              <a:t>mpty Map - Simple Trajectory</a:t>
            </a:r>
            <a:endParaRPr b="1" sz="2400"/>
          </a:p>
        </p:txBody>
      </p:sp>
      <p:pic>
        <p:nvPicPr>
          <p:cNvPr id="696" name="Google Shape;69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3125" y="1217575"/>
            <a:ext cx="4171850" cy="41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925" y="1217575"/>
            <a:ext cx="4171850" cy="41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61"/>
          <p:cNvSpPr txBox="1"/>
          <p:nvPr/>
        </p:nvSpPr>
        <p:spPr>
          <a:xfrm>
            <a:off x="1637950" y="825600"/>
            <a:ext cx="1435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States</a:t>
            </a:r>
            <a:endParaRPr sz="2400"/>
          </a:p>
        </p:txBody>
      </p:sp>
      <p:sp>
        <p:nvSpPr>
          <p:cNvPr id="699" name="Google Shape;699;p61"/>
          <p:cNvSpPr txBox="1"/>
          <p:nvPr/>
        </p:nvSpPr>
        <p:spPr>
          <a:xfrm>
            <a:off x="6114900" y="876300"/>
            <a:ext cx="13683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Inputs</a:t>
            </a:r>
            <a:endParaRPr sz="2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2"/>
          <p:cNvSpPr txBox="1"/>
          <p:nvPr/>
        </p:nvSpPr>
        <p:spPr>
          <a:xfrm>
            <a:off x="1925650" y="388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Small-empty Map - Hard Trajectory</a:t>
            </a:r>
            <a:endParaRPr b="1" sz="2400"/>
          </a:p>
        </p:txBody>
      </p:sp>
      <p:pic>
        <p:nvPicPr>
          <p:cNvPr id="707" name="Google Shape;70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163" y="1250100"/>
            <a:ext cx="4239425" cy="47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463" y="1722900"/>
            <a:ext cx="4120776" cy="412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0925" y="1722900"/>
            <a:ext cx="4120776" cy="412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1322425"/>
            <a:ext cx="4416474" cy="3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3"/>
          <p:cNvSpPr txBox="1"/>
          <p:nvPr/>
        </p:nvSpPr>
        <p:spPr>
          <a:xfrm>
            <a:off x="1925650" y="388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Small-e</a:t>
            </a:r>
            <a:r>
              <a:rPr b="1" lang="en-US" sz="2400"/>
              <a:t>mpty Map - Hard Trajectory</a:t>
            </a:r>
            <a:endParaRPr b="1" sz="2400"/>
          </a:p>
        </p:txBody>
      </p:sp>
      <p:sp>
        <p:nvSpPr>
          <p:cNvPr id="718" name="Google Shape;718;p63"/>
          <p:cNvSpPr txBox="1"/>
          <p:nvPr/>
        </p:nvSpPr>
        <p:spPr>
          <a:xfrm>
            <a:off x="3186900" y="876300"/>
            <a:ext cx="27702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N </a:t>
            </a:r>
            <a:r>
              <a:rPr lang="en-US" sz="2400"/>
              <a:t>= 100</a:t>
            </a:r>
            <a:endParaRPr sz="2400"/>
          </a:p>
        </p:txBody>
      </p:sp>
      <p:pic>
        <p:nvPicPr>
          <p:cNvPr id="719" name="Google Shape;71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5" y="1913025"/>
            <a:ext cx="4644850" cy="3483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0675" y="1913025"/>
            <a:ext cx="4644850" cy="3483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" name="Google Shape;72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0875" y="743600"/>
            <a:ext cx="5202250" cy="520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64"/>
          <p:cNvSpPr txBox="1"/>
          <p:nvPr/>
        </p:nvSpPr>
        <p:spPr>
          <a:xfrm>
            <a:off x="1894800" y="219575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Small-empty Map - Hard Trajectory</a:t>
            </a:r>
            <a:endParaRPr b="1" sz="2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5"/>
          <p:cNvSpPr txBox="1"/>
          <p:nvPr/>
        </p:nvSpPr>
        <p:spPr>
          <a:xfrm>
            <a:off x="1637950" y="825600"/>
            <a:ext cx="1435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States</a:t>
            </a:r>
            <a:endParaRPr sz="2400"/>
          </a:p>
        </p:txBody>
      </p:sp>
      <p:sp>
        <p:nvSpPr>
          <p:cNvPr id="736" name="Google Shape;736;p65"/>
          <p:cNvSpPr txBox="1"/>
          <p:nvPr/>
        </p:nvSpPr>
        <p:spPr>
          <a:xfrm>
            <a:off x="6114900" y="876300"/>
            <a:ext cx="13683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Inputs</a:t>
            </a:r>
            <a:endParaRPr sz="2400"/>
          </a:p>
        </p:txBody>
      </p:sp>
      <p:pic>
        <p:nvPicPr>
          <p:cNvPr id="737" name="Google Shape;73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938" y="1655375"/>
            <a:ext cx="3749825" cy="374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4138" y="1655375"/>
            <a:ext cx="3749825" cy="374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5"/>
          <p:cNvSpPr txBox="1"/>
          <p:nvPr/>
        </p:nvSpPr>
        <p:spPr>
          <a:xfrm>
            <a:off x="1894800" y="1026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Small-empty Map - Hard Trajectory</a:t>
            </a:r>
            <a:endParaRPr b="1" sz="24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6"/>
          <p:cNvSpPr txBox="1"/>
          <p:nvPr/>
        </p:nvSpPr>
        <p:spPr>
          <a:xfrm>
            <a:off x="1723650" y="2664000"/>
            <a:ext cx="56967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Different R Matrices</a:t>
            </a:r>
            <a:endParaRPr b="1" sz="35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7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Medium-empty</a:t>
            </a:r>
            <a:r>
              <a:rPr b="1" lang="en-US" sz="2400"/>
              <a:t> Map</a:t>
            </a:r>
            <a:endParaRPr b="1" sz="2400"/>
          </a:p>
        </p:txBody>
      </p:sp>
      <p:sp>
        <p:nvSpPr>
          <p:cNvPr id="754" name="Google Shape;754;p67"/>
          <p:cNvSpPr txBox="1"/>
          <p:nvPr/>
        </p:nvSpPr>
        <p:spPr>
          <a:xfrm>
            <a:off x="3281450" y="1043725"/>
            <a:ext cx="28005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755" name="Google Shape;75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300" y="1555275"/>
            <a:ext cx="3961800" cy="396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7250" y="1555275"/>
            <a:ext cx="3961800" cy="396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400" y="1307100"/>
            <a:ext cx="41624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1311862"/>
            <a:ext cx="434340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8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Medium-empty Map</a:t>
            </a:r>
            <a:endParaRPr b="1" sz="2400"/>
          </a:p>
        </p:txBody>
      </p:sp>
      <p:pic>
        <p:nvPicPr>
          <p:cNvPr id="766" name="Google Shape;76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875" y="2369600"/>
            <a:ext cx="3934499" cy="295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601" y="2056650"/>
            <a:ext cx="4622000" cy="34665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8"/>
          <p:cNvSpPr txBox="1"/>
          <p:nvPr/>
        </p:nvSpPr>
        <p:spPr>
          <a:xfrm>
            <a:off x="3281450" y="1043725"/>
            <a:ext cx="28005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69" name="Google Shape;769;p68"/>
          <p:cNvSpPr txBox="1"/>
          <p:nvPr/>
        </p:nvSpPr>
        <p:spPr>
          <a:xfrm>
            <a:off x="3186900" y="876300"/>
            <a:ext cx="27702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N </a:t>
            </a:r>
            <a:r>
              <a:rPr lang="en-US" sz="2400"/>
              <a:t>= 100</a:t>
            </a:r>
            <a:endParaRPr sz="24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9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Medium-empty</a:t>
            </a:r>
            <a:r>
              <a:rPr b="1" lang="en-US" sz="2400"/>
              <a:t> Map</a:t>
            </a:r>
            <a:endParaRPr b="1" sz="2400"/>
          </a:p>
        </p:txBody>
      </p:sp>
      <p:pic>
        <p:nvPicPr>
          <p:cNvPr id="777" name="Google Shape;77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88" y="1121063"/>
            <a:ext cx="3119424" cy="311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5576" y="1121078"/>
            <a:ext cx="3119426" cy="3119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4562" y="1121050"/>
            <a:ext cx="3119426" cy="3119426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9"/>
          <p:cNvSpPr txBox="1"/>
          <p:nvPr/>
        </p:nvSpPr>
        <p:spPr>
          <a:xfrm>
            <a:off x="275950" y="4308800"/>
            <a:ext cx="2459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781" name="Google Shape;781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163" y="4392875"/>
            <a:ext cx="1971450" cy="5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71835" y="4558800"/>
            <a:ext cx="2600325" cy="33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27067" y="4558800"/>
            <a:ext cx="2556833" cy="334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9"/>
          <p:cNvSpPr txBox="1"/>
          <p:nvPr/>
        </p:nvSpPr>
        <p:spPr>
          <a:xfrm>
            <a:off x="878600" y="5212025"/>
            <a:ext cx="15198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cost = 24</a:t>
            </a:r>
            <a:endParaRPr sz="2400"/>
          </a:p>
        </p:txBody>
      </p:sp>
      <p:sp>
        <p:nvSpPr>
          <p:cNvPr id="785" name="Google Shape;785;p69"/>
          <p:cNvSpPr txBox="1"/>
          <p:nvPr/>
        </p:nvSpPr>
        <p:spPr>
          <a:xfrm>
            <a:off x="3812100" y="5212025"/>
            <a:ext cx="15198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cost = 32</a:t>
            </a:r>
            <a:endParaRPr sz="2400"/>
          </a:p>
        </p:txBody>
      </p:sp>
      <p:sp>
        <p:nvSpPr>
          <p:cNvPr id="786" name="Google Shape;786;p69"/>
          <p:cNvSpPr txBox="1"/>
          <p:nvPr/>
        </p:nvSpPr>
        <p:spPr>
          <a:xfrm>
            <a:off x="6745588" y="5212025"/>
            <a:ext cx="15198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cost = 37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0"/>
          <p:cNvSpPr txBox="1"/>
          <p:nvPr/>
        </p:nvSpPr>
        <p:spPr>
          <a:xfrm>
            <a:off x="1637950" y="825600"/>
            <a:ext cx="1435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States</a:t>
            </a:r>
            <a:endParaRPr sz="2400"/>
          </a:p>
        </p:txBody>
      </p:sp>
      <p:sp>
        <p:nvSpPr>
          <p:cNvPr id="794" name="Google Shape;794;p70"/>
          <p:cNvSpPr txBox="1"/>
          <p:nvPr/>
        </p:nvSpPr>
        <p:spPr>
          <a:xfrm>
            <a:off x="6114900" y="876300"/>
            <a:ext cx="13683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Inputs</a:t>
            </a:r>
            <a:endParaRPr sz="2400"/>
          </a:p>
        </p:txBody>
      </p:sp>
      <p:sp>
        <p:nvSpPr>
          <p:cNvPr id="795" name="Google Shape;795;p70"/>
          <p:cNvSpPr txBox="1"/>
          <p:nvPr/>
        </p:nvSpPr>
        <p:spPr>
          <a:xfrm>
            <a:off x="1894800" y="1026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Medium</a:t>
            </a:r>
            <a:r>
              <a:rPr b="1" lang="en-US" sz="2400"/>
              <a:t>-empty Map</a:t>
            </a:r>
            <a:endParaRPr b="1" sz="2400"/>
          </a:p>
        </p:txBody>
      </p:sp>
      <p:pic>
        <p:nvPicPr>
          <p:cNvPr id="796" name="Google Shape;79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938" y="1885325"/>
            <a:ext cx="3216225" cy="32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738" y="1885325"/>
            <a:ext cx="3216225" cy="32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1"/>
          <p:cNvSpPr txBox="1"/>
          <p:nvPr/>
        </p:nvSpPr>
        <p:spPr>
          <a:xfrm>
            <a:off x="1785150" y="2479500"/>
            <a:ext cx="5573700" cy="18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Forcing Nodes</a:t>
            </a:r>
            <a:endParaRPr b="1" sz="36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72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Big-few Map</a:t>
            </a:r>
            <a:endParaRPr b="1" sz="2400"/>
          </a:p>
        </p:txBody>
      </p:sp>
      <p:pic>
        <p:nvPicPr>
          <p:cNvPr id="812" name="Google Shape;81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75" y="1582450"/>
            <a:ext cx="4126326" cy="412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5275" y="1582450"/>
            <a:ext cx="4126326" cy="412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6750" y="1366576"/>
            <a:ext cx="41433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5600" y="1366576"/>
            <a:ext cx="410527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3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Big-few Map</a:t>
            </a:r>
            <a:endParaRPr b="1" sz="2400"/>
          </a:p>
        </p:txBody>
      </p:sp>
      <p:pic>
        <p:nvPicPr>
          <p:cNvPr id="823" name="Google Shape;82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350" y="2026025"/>
            <a:ext cx="4901600" cy="3676206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3"/>
          <p:cNvSpPr txBox="1"/>
          <p:nvPr/>
        </p:nvSpPr>
        <p:spPr>
          <a:xfrm>
            <a:off x="3186900" y="876300"/>
            <a:ext cx="27702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N </a:t>
            </a:r>
            <a:r>
              <a:rPr lang="en-US" sz="2400"/>
              <a:t>= 100</a:t>
            </a:r>
            <a:endParaRPr sz="2400"/>
          </a:p>
        </p:txBody>
      </p:sp>
      <p:pic>
        <p:nvPicPr>
          <p:cNvPr id="825" name="Google Shape;82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24" y="2026038"/>
            <a:ext cx="4901600" cy="3676187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3"/>
          <p:cNvSpPr txBox="1"/>
          <p:nvPr/>
        </p:nvSpPr>
        <p:spPr>
          <a:xfrm>
            <a:off x="972700" y="1535525"/>
            <a:ext cx="3128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Without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Forced Nodes</a:t>
            </a:r>
            <a:endParaRPr sz="2400"/>
          </a:p>
        </p:txBody>
      </p:sp>
      <p:sp>
        <p:nvSpPr>
          <p:cNvPr id="827" name="Google Shape;827;p73"/>
          <p:cNvSpPr txBox="1"/>
          <p:nvPr/>
        </p:nvSpPr>
        <p:spPr>
          <a:xfrm>
            <a:off x="5442100" y="1535525"/>
            <a:ext cx="3128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With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Forced Nodes</a:t>
            </a:r>
            <a:endParaRPr sz="2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4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Big-few Map</a:t>
            </a:r>
            <a:endParaRPr b="1" sz="2400"/>
          </a:p>
        </p:txBody>
      </p:sp>
      <p:pic>
        <p:nvPicPr>
          <p:cNvPr id="835" name="Google Shape;83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4125" y="1069225"/>
            <a:ext cx="4251050" cy="4251024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4"/>
          <p:cNvSpPr txBox="1"/>
          <p:nvPr/>
        </p:nvSpPr>
        <p:spPr>
          <a:xfrm>
            <a:off x="931738" y="5558150"/>
            <a:ext cx="2117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cost = 77</a:t>
            </a:r>
            <a:endParaRPr sz="2400"/>
          </a:p>
        </p:txBody>
      </p:sp>
      <p:sp>
        <p:nvSpPr>
          <p:cNvPr id="837" name="Google Shape;837;p74"/>
          <p:cNvSpPr txBox="1"/>
          <p:nvPr/>
        </p:nvSpPr>
        <p:spPr>
          <a:xfrm>
            <a:off x="5697475" y="5558150"/>
            <a:ext cx="2117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cost = 61</a:t>
            </a:r>
            <a:endParaRPr sz="2400"/>
          </a:p>
        </p:txBody>
      </p:sp>
      <p:pic>
        <p:nvPicPr>
          <p:cNvPr id="838" name="Google Shape;838;p74"/>
          <p:cNvPicPr preferRelativeResize="0"/>
          <p:nvPr/>
        </p:nvPicPr>
        <p:blipFill rotWithShape="1">
          <a:blip r:embed="rId4">
            <a:alphaModFix/>
          </a:blip>
          <a:srcRect b="-3710" l="0" r="0" t="3710"/>
          <a:stretch/>
        </p:blipFill>
        <p:spPr>
          <a:xfrm>
            <a:off x="132501" y="1307100"/>
            <a:ext cx="4251050" cy="425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5"/>
          <p:cNvSpPr txBox="1"/>
          <p:nvPr/>
        </p:nvSpPr>
        <p:spPr>
          <a:xfrm>
            <a:off x="1399950" y="1682325"/>
            <a:ext cx="1435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States</a:t>
            </a:r>
            <a:endParaRPr sz="2400"/>
          </a:p>
        </p:txBody>
      </p:sp>
      <p:sp>
        <p:nvSpPr>
          <p:cNvPr id="846" name="Google Shape;846;p75"/>
          <p:cNvSpPr txBox="1"/>
          <p:nvPr/>
        </p:nvSpPr>
        <p:spPr>
          <a:xfrm>
            <a:off x="6114900" y="1682325"/>
            <a:ext cx="13683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Inputs</a:t>
            </a:r>
            <a:endParaRPr sz="2400"/>
          </a:p>
        </p:txBody>
      </p:sp>
      <p:sp>
        <p:nvSpPr>
          <p:cNvPr id="847" name="Google Shape;847;p75"/>
          <p:cNvSpPr txBox="1"/>
          <p:nvPr/>
        </p:nvSpPr>
        <p:spPr>
          <a:xfrm>
            <a:off x="1894800" y="1026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Big-few Map</a:t>
            </a:r>
            <a:endParaRPr b="1" sz="2400"/>
          </a:p>
        </p:txBody>
      </p:sp>
      <p:sp>
        <p:nvSpPr>
          <p:cNvPr id="848" name="Google Shape;848;p75"/>
          <p:cNvSpPr txBox="1"/>
          <p:nvPr/>
        </p:nvSpPr>
        <p:spPr>
          <a:xfrm>
            <a:off x="2956350" y="876300"/>
            <a:ext cx="32313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Without Forced Nodes</a:t>
            </a:r>
            <a:endParaRPr sz="2400"/>
          </a:p>
        </p:txBody>
      </p:sp>
      <p:pic>
        <p:nvPicPr>
          <p:cNvPr id="849" name="Google Shape;84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225" y="2281175"/>
            <a:ext cx="3639650" cy="363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025" y="2281175"/>
            <a:ext cx="3639650" cy="363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6"/>
          <p:cNvSpPr txBox="1"/>
          <p:nvPr/>
        </p:nvSpPr>
        <p:spPr>
          <a:xfrm>
            <a:off x="1399950" y="1682325"/>
            <a:ext cx="1435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States</a:t>
            </a:r>
            <a:endParaRPr sz="2400"/>
          </a:p>
        </p:txBody>
      </p:sp>
      <p:sp>
        <p:nvSpPr>
          <p:cNvPr id="858" name="Google Shape;858;p76"/>
          <p:cNvSpPr txBox="1"/>
          <p:nvPr/>
        </p:nvSpPr>
        <p:spPr>
          <a:xfrm>
            <a:off x="6114900" y="1682325"/>
            <a:ext cx="13683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Inputs</a:t>
            </a:r>
            <a:endParaRPr sz="2400"/>
          </a:p>
        </p:txBody>
      </p:sp>
      <p:sp>
        <p:nvSpPr>
          <p:cNvPr id="859" name="Google Shape;859;p76"/>
          <p:cNvSpPr txBox="1"/>
          <p:nvPr/>
        </p:nvSpPr>
        <p:spPr>
          <a:xfrm>
            <a:off x="1894800" y="1026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Big-few Map</a:t>
            </a:r>
            <a:endParaRPr b="1" sz="2400"/>
          </a:p>
        </p:txBody>
      </p:sp>
      <p:pic>
        <p:nvPicPr>
          <p:cNvPr id="860" name="Google Shape;86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8975" y="2169753"/>
            <a:ext cx="3420150" cy="342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779" y="2169742"/>
            <a:ext cx="3420150" cy="3420125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 txBox="1"/>
          <p:nvPr/>
        </p:nvSpPr>
        <p:spPr>
          <a:xfrm>
            <a:off x="3123900" y="876300"/>
            <a:ext cx="28962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With </a:t>
            </a:r>
            <a:r>
              <a:rPr lang="en-US" sz="2400"/>
              <a:t>Forced Nodes</a:t>
            </a:r>
            <a:endParaRPr sz="24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7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Small-few Map</a:t>
            </a:r>
            <a:endParaRPr b="1" sz="2400"/>
          </a:p>
        </p:txBody>
      </p:sp>
      <p:pic>
        <p:nvPicPr>
          <p:cNvPr id="870" name="Google Shape;87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050" y="1560750"/>
            <a:ext cx="441960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60750"/>
            <a:ext cx="441960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638" y="1307100"/>
            <a:ext cx="41624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8700" y="1335675"/>
            <a:ext cx="388620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8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Small-few Map</a:t>
            </a:r>
            <a:endParaRPr b="1" sz="2400"/>
          </a:p>
        </p:txBody>
      </p:sp>
      <p:sp>
        <p:nvSpPr>
          <p:cNvPr id="881" name="Google Shape;881;p78"/>
          <p:cNvSpPr txBox="1"/>
          <p:nvPr/>
        </p:nvSpPr>
        <p:spPr>
          <a:xfrm>
            <a:off x="3186900" y="876300"/>
            <a:ext cx="27702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N </a:t>
            </a:r>
            <a:r>
              <a:rPr lang="en-US" sz="2400"/>
              <a:t>= 200</a:t>
            </a:r>
            <a:endParaRPr sz="2400"/>
          </a:p>
        </p:txBody>
      </p:sp>
      <p:pic>
        <p:nvPicPr>
          <p:cNvPr id="882" name="Google Shape;88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5575" y="1986351"/>
            <a:ext cx="4606026" cy="345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725" y="1986350"/>
            <a:ext cx="4606026" cy="3454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9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Small-few Map</a:t>
            </a:r>
            <a:endParaRPr b="1" sz="2400"/>
          </a:p>
        </p:txBody>
      </p:sp>
      <p:pic>
        <p:nvPicPr>
          <p:cNvPr id="891" name="Google Shape;89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5452" y="1202461"/>
            <a:ext cx="4453100" cy="445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0"/>
          <p:cNvSpPr txBox="1"/>
          <p:nvPr/>
        </p:nvSpPr>
        <p:spPr>
          <a:xfrm>
            <a:off x="1637950" y="825600"/>
            <a:ext cx="1435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States</a:t>
            </a:r>
            <a:endParaRPr sz="2400"/>
          </a:p>
        </p:txBody>
      </p:sp>
      <p:sp>
        <p:nvSpPr>
          <p:cNvPr id="899" name="Google Shape;899;p80"/>
          <p:cNvSpPr txBox="1"/>
          <p:nvPr/>
        </p:nvSpPr>
        <p:spPr>
          <a:xfrm>
            <a:off x="6114900" y="876300"/>
            <a:ext cx="13683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Inputs</a:t>
            </a:r>
            <a:endParaRPr sz="2400"/>
          </a:p>
        </p:txBody>
      </p:sp>
      <p:sp>
        <p:nvSpPr>
          <p:cNvPr id="900" name="Google Shape;900;p80"/>
          <p:cNvSpPr txBox="1"/>
          <p:nvPr/>
        </p:nvSpPr>
        <p:spPr>
          <a:xfrm>
            <a:off x="1894800" y="1026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Small-few Map</a:t>
            </a:r>
            <a:endParaRPr b="1" sz="2400"/>
          </a:p>
        </p:txBody>
      </p:sp>
      <p:pic>
        <p:nvPicPr>
          <p:cNvPr id="901" name="Google Shape;90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637" y="1562839"/>
            <a:ext cx="4084825" cy="4084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438" y="1562850"/>
            <a:ext cx="4084825" cy="40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81"/>
          <p:cNvSpPr txBox="1"/>
          <p:nvPr/>
        </p:nvSpPr>
        <p:spPr>
          <a:xfrm>
            <a:off x="2065200" y="2534250"/>
            <a:ext cx="5013600" cy="17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Custom Map</a:t>
            </a:r>
            <a:endParaRPr b="1" sz="36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82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Small-many Map</a:t>
            </a:r>
            <a:endParaRPr b="1" sz="2400"/>
          </a:p>
        </p:txBody>
      </p:sp>
      <p:pic>
        <p:nvPicPr>
          <p:cNvPr id="917" name="Google Shape;91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9500"/>
            <a:ext cx="4344926" cy="4344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726" y="1459500"/>
            <a:ext cx="4341874" cy="434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525" y="1307101"/>
            <a:ext cx="38766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3750" y="1349963"/>
            <a:ext cx="3933825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83"/>
          <p:cNvSpPr txBox="1"/>
          <p:nvPr/>
        </p:nvSpPr>
        <p:spPr>
          <a:xfrm>
            <a:off x="1894800" y="25425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Small-many Map</a:t>
            </a:r>
            <a:endParaRPr b="1" sz="2400"/>
          </a:p>
        </p:txBody>
      </p:sp>
      <p:pic>
        <p:nvPicPr>
          <p:cNvPr id="928" name="Google Shape;928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089" y="1467250"/>
            <a:ext cx="5553826" cy="41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3"/>
          <p:cNvSpPr txBox="1"/>
          <p:nvPr/>
        </p:nvSpPr>
        <p:spPr>
          <a:xfrm>
            <a:off x="3186900" y="876300"/>
            <a:ext cx="27702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N </a:t>
            </a:r>
            <a:r>
              <a:rPr lang="en-US" sz="2400"/>
              <a:t>= 500</a:t>
            </a:r>
            <a:endParaRPr sz="24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4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Small-many Map</a:t>
            </a:r>
            <a:endParaRPr b="1" sz="2400"/>
          </a:p>
        </p:txBody>
      </p:sp>
      <p:pic>
        <p:nvPicPr>
          <p:cNvPr id="937" name="Google Shape;93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2300" y="1307100"/>
            <a:ext cx="4379400" cy="43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85"/>
          <p:cNvSpPr txBox="1"/>
          <p:nvPr/>
        </p:nvSpPr>
        <p:spPr>
          <a:xfrm>
            <a:off x="1637950" y="825600"/>
            <a:ext cx="1435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States</a:t>
            </a:r>
            <a:endParaRPr sz="2400"/>
          </a:p>
        </p:txBody>
      </p:sp>
      <p:sp>
        <p:nvSpPr>
          <p:cNvPr id="945" name="Google Shape;945;p85"/>
          <p:cNvSpPr txBox="1"/>
          <p:nvPr/>
        </p:nvSpPr>
        <p:spPr>
          <a:xfrm>
            <a:off x="6114900" y="876300"/>
            <a:ext cx="13683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Inputs</a:t>
            </a:r>
            <a:endParaRPr sz="2400"/>
          </a:p>
        </p:txBody>
      </p:sp>
      <p:sp>
        <p:nvSpPr>
          <p:cNvPr id="946" name="Google Shape;946;p85"/>
          <p:cNvSpPr txBox="1"/>
          <p:nvPr/>
        </p:nvSpPr>
        <p:spPr>
          <a:xfrm>
            <a:off x="1894800" y="1026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Small-many Map</a:t>
            </a:r>
            <a:endParaRPr b="1" sz="2400"/>
          </a:p>
        </p:txBody>
      </p:sp>
      <p:pic>
        <p:nvPicPr>
          <p:cNvPr id="947" name="Google Shape;94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213" y="1846013"/>
            <a:ext cx="3677275" cy="36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0413" y="1846025"/>
            <a:ext cx="3677275" cy="367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86"/>
          <p:cNvSpPr txBox="1"/>
          <p:nvPr/>
        </p:nvSpPr>
        <p:spPr>
          <a:xfrm>
            <a:off x="2181300" y="2694000"/>
            <a:ext cx="4781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Other Simulations</a:t>
            </a:r>
            <a:endParaRPr b="1" sz="36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87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Medium-few Map</a:t>
            </a:r>
            <a:endParaRPr b="1" sz="2400"/>
          </a:p>
        </p:txBody>
      </p:sp>
      <p:pic>
        <p:nvPicPr>
          <p:cNvPr id="963" name="Google Shape;96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9500"/>
            <a:ext cx="4221974" cy="4221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5975" y="1459500"/>
            <a:ext cx="4221976" cy="422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738" y="1380274"/>
            <a:ext cx="35433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28638" y="1361224"/>
            <a:ext cx="36766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88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Medium-few Map</a:t>
            </a:r>
            <a:endParaRPr b="1" sz="2400"/>
          </a:p>
        </p:txBody>
      </p:sp>
      <p:pic>
        <p:nvPicPr>
          <p:cNvPr id="974" name="Google Shape;97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175" y="1945400"/>
            <a:ext cx="4487826" cy="3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850" y="1945400"/>
            <a:ext cx="4487826" cy="3365888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8"/>
          <p:cNvSpPr txBox="1"/>
          <p:nvPr/>
        </p:nvSpPr>
        <p:spPr>
          <a:xfrm>
            <a:off x="3186900" y="876300"/>
            <a:ext cx="27702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N </a:t>
            </a:r>
            <a:r>
              <a:rPr lang="en-US" sz="2400"/>
              <a:t>= 500</a:t>
            </a:r>
            <a:endParaRPr sz="24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89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Medium-few Map</a:t>
            </a:r>
            <a:endParaRPr b="1" sz="2400"/>
          </a:p>
        </p:txBody>
      </p:sp>
      <p:pic>
        <p:nvPicPr>
          <p:cNvPr id="984" name="Google Shape;98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888" y="1174887"/>
            <a:ext cx="4508226" cy="450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0"/>
          <p:cNvSpPr txBox="1"/>
          <p:nvPr/>
        </p:nvSpPr>
        <p:spPr>
          <a:xfrm>
            <a:off x="1637950" y="825600"/>
            <a:ext cx="1435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States</a:t>
            </a:r>
            <a:endParaRPr sz="2400"/>
          </a:p>
        </p:txBody>
      </p:sp>
      <p:sp>
        <p:nvSpPr>
          <p:cNvPr id="992" name="Google Shape;992;p90"/>
          <p:cNvSpPr txBox="1"/>
          <p:nvPr/>
        </p:nvSpPr>
        <p:spPr>
          <a:xfrm>
            <a:off x="6114900" y="876300"/>
            <a:ext cx="13683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Inputs</a:t>
            </a:r>
            <a:endParaRPr sz="2400"/>
          </a:p>
        </p:txBody>
      </p:sp>
      <p:sp>
        <p:nvSpPr>
          <p:cNvPr id="993" name="Google Shape;993;p90"/>
          <p:cNvSpPr txBox="1"/>
          <p:nvPr/>
        </p:nvSpPr>
        <p:spPr>
          <a:xfrm>
            <a:off x="1894800" y="1026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Medium</a:t>
            </a:r>
            <a:r>
              <a:rPr b="1" lang="en-US" sz="2400"/>
              <a:t>-few Map</a:t>
            </a:r>
            <a:endParaRPr b="1" sz="2400"/>
          </a:p>
        </p:txBody>
      </p:sp>
      <p:pic>
        <p:nvPicPr>
          <p:cNvPr id="994" name="Google Shape;99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30150"/>
            <a:ext cx="4349450" cy="434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925" y="1270100"/>
            <a:ext cx="3387850" cy="466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91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Medium-many Map</a:t>
            </a:r>
            <a:endParaRPr b="1" sz="2400"/>
          </a:p>
        </p:txBody>
      </p:sp>
      <p:pic>
        <p:nvPicPr>
          <p:cNvPr id="1003" name="Google Shape;100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8800"/>
            <a:ext cx="4174450" cy="417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150" y="1568800"/>
            <a:ext cx="4174450" cy="417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725" y="1307100"/>
            <a:ext cx="37338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7150" y="1378538"/>
            <a:ext cx="392430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2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Medium-many Map</a:t>
            </a:r>
            <a:endParaRPr b="1" sz="2400"/>
          </a:p>
        </p:txBody>
      </p:sp>
      <p:pic>
        <p:nvPicPr>
          <p:cNvPr id="1014" name="Google Shape;101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100" y="1847775"/>
            <a:ext cx="4337850" cy="325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551" y="1847776"/>
            <a:ext cx="4337859" cy="32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2"/>
          <p:cNvSpPr txBox="1"/>
          <p:nvPr/>
        </p:nvSpPr>
        <p:spPr>
          <a:xfrm>
            <a:off x="3186900" y="876300"/>
            <a:ext cx="27702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N </a:t>
            </a:r>
            <a:r>
              <a:rPr lang="en-US" sz="2400"/>
              <a:t>= 500</a:t>
            </a:r>
            <a:endParaRPr sz="24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3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Medium-many Map</a:t>
            </a:r>
            <a:endParaRPr b="1" sz="2400"/>
          </a:p>
        </p:txBody>
      </p:sp>
      <p:pic>
        <p:nvPicPr>
          <p:cNvPr id="1024" name="Google Shape;102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0800" y="1117800"/>
            <a:ext cx="4622400" cy="46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94"/>
          <p:cNvSpPr txBox="1"/>
          <p:nvPr/>
        </p:nvSpPr>
        <p:spPr>
          <a:xfrm>
            <a:off x="1637950" y="825600"/>
            <a:ext cx="1435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States</a:t>
            </a:r>
            <a:endParaRPr sz="2400"/>
          </a:p>
        </p:txBody>
      </p:sp>
      <p:sp>
        <p:nvSpPr>
          <p:cNvPr id="1032" name="Google Shape;1032;p94"/>
          <p:cNvSpPr txBox="1"/>
          <p:nvPr/>
        </p:nvSpPr>
        <p:spPr>
          <a:xfrm>
            <a:off x="6114900" y="876300"/>
            <a:ext cx="13683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Inputs</a:t>
            </a:r>
            <a:endParaRPr sz="2400"/>
          </a:p>
        </p:txBody>
      </p:sp>
      <p:sp>
        <p:nvSpPr>
          <p:cNvPr id="1033" name="Google Shape;1033;p94"/>
          <p:cNvSpPr txBox="1"/>
          <p:nvPr/>
        </p:nvSpPr>
        <p:spPr>
          <a:xfrm>
            <a:off x="1894800" y="1026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Medium</a:t>
            </a:r>
            <a:r>
              <a:rPr b="1" lang="en-US" sz="2400"/>
              <a:t>-many Map</a:t>
            </a:r>
            <a:endParaRPr b="1" sz="2400"/>
          </a:p>
        </p:txBody>
      </p:sp>
      <p:pic>
        <p:nvPicPr>
          <p:cNvPr id="1034" name="Google Shape;103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025" y="1878900"/>
            <a:ext cx="3837050" cy="383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5407" y="1878902"/>
            <a:ext cx="2950825" cy="40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95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Big-many Map</a:t>
            </a:r>
            <a:endParaRPr b="1" sz="2400"/>
          </a:p>
        </p:txBody>
      </p:sp>
      <p:pic>
        <p:nvPicPr>
          <p:cNvPr id="1043" name="Google Shape;104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9500"/>
            <a:ext cx="441960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383300"/>
            <a:ext cx="441960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963" y="1307100"/>
            <a:ext cx="42957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6275" y="1330913"/>
            <a:ext cx="430530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96"/>
          <p:cNvSpPr txBox="1"/>
          <p:nvPr/>
        </p:nvSpPr>
        <p:spPr>
          <a:xfrm>
            <a:off x="1894800" y="4455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Big-many Map</a:t>
            </a:r>
            <a:endParaRPr b="1" sz="2400"/>
          </a:p>
        </p:txBody>
      </p:sp>
      <p:pic>
        <p:nvPicPr>
          <p:cNvPr id="1054" name="Google Shape;105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9725" y="1909937"/>
            <a:ext cx="4917774" cy="36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50" y="1909919"/>
            <a:ext cx="4917774" cy="36883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96"/>
          <p:cNvSpPr txBox="1"/>
          <p:nvPr/>
        </p:nvSpPr>
        <p:spPr>
          <a:xfrm>
            <a:off x="3186900" y="876300"/>
            <a:ext cx="27702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N </a:t>
            </a:r>
            <a:r>
              <a:rPr lang="en-US" sz="2400"/>
              <a:t>= 500</a:t>
            </a:r>
            <a:endParaRPr sz="24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97"/>
          <p:cNvSpPr txBox="1"/>
          <p:nvPr/>
        </p:nvSpPr>
        <p:spPr>
          <a:xfrm>
            <a:off x="1894800" y="102600"/>
            <a:ext cx="53544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Big-many Map</a:t>
            </a:r>
            <a:endParaRPr b="1" sz="2400"/>
          </a:p>
        </p:txBody>
      </p:sp>
      <p:pic>
        <p:nvPicPr>
          <p:cNvPr id="1064" name="Google Shape;106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588" y="717950"/>
            <a:ext cx="5264826" cy="526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98"/>
          <p:cNvSpPr txBox="1"/>
          <p:nvPr/>
        </p:nvSpPr>
        <p:spPr>
          <a:xfrm>
            <a:off x="1894800" y="0"/>
            <a:ext cx="5354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Big-many Map</a:t>
            </a:r>
            <a:endParaRPr b="1" sz="2400"/>
          </a:p>
        </p:txBody>
      </p:sp>
      <p:pic>
        <p:nvPicPr>
          <p:cNvPr id="1072" name="Google Shape;107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925" y="1742625"/>
            <a:ext cx="3866150" cy="38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8"/>
          <p:cNvSpPr txBox="1"/>
          <p:nvPr/>
        </p:nvSpPr>
        <p:spPr>
          <a:xfrm>
            <a:off x="914500" y="1180325"/>
            <a:ext cx="28827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States</a:t>
            </a:r>
            <a:endParaRPr b="1" sz="2400"/>
          </a:p>
        </p:txBody>
      </p:sp>
      <p:sp>
        <p:nvSpPr>
          <p:cNvPr id="1074" name="Google Shape;1074;p98"/>
          <p:cNvSpPr txBox="1"/>
          <p:nvPr/>
        </p:nvSpPr>
        <p:spPr>
          <a:xfrm>
            <a:off x="5629800" y="1180325"/>
            <a:ext cx="28827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Inputs</a:t>
            </a:r>
            <a:endParaRPr b="1" sz="2400"/>
          </a:p>
        </p:txBody>
      </p:sp>
      <p:pic>
        <p:nvPicPr>
          <p:cNvPr id="1075" name="Google Shape;1075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1237" y="1735788"/>
            <a:ext cx="3879825" cy="387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99"/>
          <p:cNvSpPr txBox="1"/>
          <p:nvPr/>
        </p:nvSpPr>
        <p:spPr>
          <a:xfrm>
            <a:off x="2654850" y="538500"/>
            <a:ext cx="38343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/>
              <a:t>Results</a:t>
            </a:r>
            <a:endParaRPr b="1" sz="3400"/>
          </a:p>
        </p:txBody>
      </p:sp>
      <p:pic>
        <p:nvPicPr>
          <p:cNvPr id="1083" name="Google Shape;108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02325"/>
            <a:ext cx="8839201" cy="375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00"/>
          <p:cNvSpPr txBox="1"/>
          <p:nvPr/>
        </p:nvSpPr>
        <p:spPr>
          <a:xfrm>
            <a:off x="2857500" y="562050"/>
            <a:ext cx="3429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Georgia"/>
                <a:ea typeface="Georgia"/>
                <a:cs typeface="Georgia"/>
                <a:sym typeface="Georgia"/>
              </a:rPr>
              <a:t>Conclusions</a:t>
            </a:r>
            <a:endParaRPr b="1"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1" name="Google Shape;1091;p100"/>
          <p:cNvSpPr txBox="1"/>
          <p:nvPr/>
        </p:nvSpPr>
        <p:spPr>
          <a:xfrm>
            <a:off x="1833900" y="3730513"/>
            <a:ext cx="42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Number of iterations</a:t>
            </a:r>
            <a:endParaRPr/>
          </a:p>
        </p:txBody>
      </p:sp>
      <p:sp>
        <p:nvSpPr>
          <p:cNvPr id="1092" name="Google Shape;1092;p100"/>
          <p:cNvSpPr txBox="1"/>
          <p:nvPr/>
        </p:nvSpPr>
        <p:spPr>
          <a:xfrm>
            <a:off x="1833900" y="3008350"/>
            <a:ext cx="547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Different R matrices</a:t>
            </a:r>
            <a:endParaRPr/>
          </a:p>
        </p:txBody>
      </p:sp>
      <p:sp>
        <p:nvSpPr>
          <p:cNvPr id="1093" name="Google Shape;1093;p100"/>
          <p:cNvSpPr txBox="1"/>
          <p:nvPr/>
        </p:nvSpPr>
        <p:spPr>
          <a:xfrm>
            <a:off x="1833900" y="4452700"/>
            <a:ext cx="387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Obstacle avoidance</a:t>
            </a:r>
            <a:endParaRPr sz="2400"/>
          </a:p>
        </p:txBody>
      </p:sp>
      <p:sp>
        <p:nvSpPr>
          <p:cNvPr id="1094" name="Google Shape;1094;p100"/>
          <p:cNvSpPr txBox="1"/>
          <p:nvPr/>
        </p:nvSpPr>
        <p:spPr>
          <a:xfrm>
            <a:off x="1833900" y="1532750"/>
            <a:ext cx="54762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Kinematic Model for SWMR</a:t>
            </a:r>
            <a:endParaRPr sz="2400"/>
          </a:p>
        </p:txBody>
      </p:sp>
      <p:sp>
        <p:nvSpPr>
          <p:cNvPr id="1095" name="Google Shape;1095;p100"/>
          <p:cNvSpPr txBox="1"/>
          <p:nvPr/>
        </p:nvSpPr>
        <p:spPr>
          <a:xfrm>
            <a:off x="1833900" y="2270538"/>
            <a:ext cx="54762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KRRT*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01"/>
          <p:cNvSpPr txBox="1"/>
          <p:nvPr/>
        </p:nvSpPr>
        <p:spPr>
          <a:xfrm>
            <a:off x="2857500" y="562050"/>
            <a:ext cx="3429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Georgia"/>
                <a:ea typeface="Georgia"/>
                <a:cs typeface="Georgia"/>
                <a:sym typeface="Georgia"/>
              </a:rPr>
              <a:t>Future works</a:t>
            </a:r>
            <a:endParaRPr b="1"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3" name="Google Shape;1103;p101"/>
          <p:cNvSpPr txBox="1"/>
          <p:nvPr/>
        </p:nvSpPr>
        <p:spPr>
          <a:xfrm>
            <a:off x="1792650" y="1985975"/>
            <a:ext cx="59694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K</a:t>
            </a:r>
            <a:r>
              <a:rPr lang="en-US" sz="2800"/>
              <a:t>-d tree for e</a:t>
            </a:r>
            <a:r>
              <a:rPr lang="en-US" sz="2800"/>
              <a:t>fficient Neighbors search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Controller for trajectory tracking</a:t>
            </a:r>
            <a:endParaRPr sz="2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CED9"/>
        </a:solidFill>
      </p:bgPr>
    </p:bg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02"/>
          <p:cNvSpPr txBox="1"/>
          <p:nvPr/>
        </p:nvSpPr>
        <p:spPr>
          <a:xfrm>
            <a:off x="1000000" y="2027350"/>
            <a:ext cx="70494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822433"/>
                </a:solidFill>
              </a:rPr>
              <a:t>THANK YOU FOR YOUR ATTENTION</a:t>
            </a:r>
            <a:endParaRPr b="1" sz="3600">
              <a:solidFill>
                <a:srgbClr val="8224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 sapienza">
  <a:themeElements>
    <a:clrScheme name="la sapienza">
      <a:dk1>
        <a:srgbClr val="822433"/>
      </a:dk1>
      <a:lt1>
        <a:srgbClr val="FFFFFF"/>
      </a:lt1>
      <a:dk2>
        <a:srgbClr val="822433"/>
      </a:dk2>
      <a:lt2>
        <a:srgbClr val="808080"/>
      </a:lt2>
      <a:accent1>
        <a:srgbClr val="BBE0E3"/>
      </a:accent1>
      <a:accent2>
        <a:srgbClr val="FFFF00"/>
      </a:accent2>
      <a:accent3>
        <a:srgbClr val="FFFFFF"/>
      </a:accent3>
      <a:accent4>
        <a:srgbClr val="BBE0E3"/>
      </a:accent4>
      <a:accent5>
        <a:srgbClr val="FFFF00"/>
      </a:accent5>
      <a:accent6>
        <a:srgbClr val="FFFFFF"/>
      </a:accent6>
      <a:hlink>
        <a:srgbClr val="0000FF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